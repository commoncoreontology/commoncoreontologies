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51"/>
  </p:notesMasterIdLst>
  <p:sldIdLst>
    <p:sldId id="5267" r:id="rId2"/>
    <p:sldId id="5882" r:id="rId3"/>
    <p:sldId id="2142534600" r:id="rId4"/>
    <p:sldId id="5692" r:id="rId5"/>
    <p:sldId id="2142534597" r:id="rId6"/>
    <p:sldId id="5315" r:id="rId7"/>
    <p:sldId id="2142534598" r:id="rId8"/>
    <p:sldId id="2142534567" r:id="rId9"/>
    <p:sldId id="5886" r:id="rId10"/>
    <p:sldId id="2142534599" r:id="rId11"/>
    <p:sldId id="2142534568" r:id="rId12"/>
    <p:sldId id="2142534589" r:id="rId13"/>
    <p:sldId id="2142534569" r:id="rId14"/>
    <p:sldId id="2142534575" r:id="rId15"/>
    <p:sldId id="5884" r:id="rId16"/>
    <p:sldId id="5331" r:id="rId17"/>
    <p:sldId id="5698" r:id="rId18"/>
    <p:sldId id="2142534596" r:id="rId19"/>
    <p:sldId id="5699" r:id="rId20"/>
    <p:sldId id="5284" r:id="rId21"/>
    <p:sldId id="5700" r:id="rId22"/>
    <p:sldId id="5701" r:id="rId23"/>
    <p:sldId id="2142534576" r:id="rId24"/>
    <p:sldId id="2142534571" r:id="rId25"/>
    <p:sldId id="2142534577" r:id="rId26"/>
    <p:sldId id="2142534570" r:id="rId27"/>
    <p:sldId id="2142534578" r:id="rId28"/>
    <p:sldId id="2142534574" r:id="rId29"/>
    <p:sldId id="2142534601" r:id="rId30"/>
    <p:sldId id="2142534579" r:id="rId31"/>
    <p:sldId id="2142534580" r:id="rId32"/>
    <p:sldId id="2142534594" r:id="rId33"/>
    <p:sldId id="2142534605" r:id="rId34"/>
    <p:sldId id="2142534590" r:id="rId35"/>
    <p:sldId id="2142534595" r:id="rId36"/>
    <p:sldId id="2142534581" r:id="rId37"/>
    <p:sldId id="2142534582" r:id="rId38"/>
    <p:sldId id="2142534603" r:id="rId39"/>
    <p:sldId id="2142534602" r:id="rId40"/>
    <p:sldId id="2142534584" r:id="rId41"/>
    <p:sldId id="2142534583" r:id="rId42"/>
    <p:sldId id="2142534591" r:id="rId43"/>
    <p:sldId id="2142534586" r:id="rId44"/>
    <p:sldId id="2142534592" r:id="rId45"/>
    <p:sldId id="2142534587" r:id="rId46"/>
    <p:sldId id="2142534593" r:id="rId47"/>
    <p:sldId id="2142534588" r:id="rId48"/>
    <p:sldId id="2142534606" r:id="rId49"/>
    <p:sldId id="2142534607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266"/>
    <p:restoredTop sz="94719"/>
  </p:normalViewPr>
  <p:slideViewPr>
    <p:cSldViewPr snapToGrid="0">
      <p:cViewPr>
        <p:scale>
          <a:sx n="132" d="100"/>
          <a:sy n="132" d="100"/>
        </p:scale>
        <p:origin x="1824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5D6272-D3DF-0340-8A33-2C87E2A16060}" type="datetimeFigureOut">
              <a:t>4/24/26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7A3A42-E264-9A49-B886-86D0E4FAEDE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791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AB3A-29A6-DFEE-BD98-EF39BFFC1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i="1"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E5CF12-38FC-E9AF-C7A1-3400183156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latin typeface="Garamond" panose="020204040303010108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60FCD-458D-4E43-4383-761668C08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03AD-24D2-F04B-A5C1-AA31754D0B29}" type="datetimeFigureOut"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2C482-3E9F-C58A-8385-3FD092398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3B55F-4685-78A8-3C5E-C85E35D8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24233-0586-EA44-99C2-E26DC30F537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123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0E112-A927-1C8B-4937-ED78DFF1B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591FF-0BA0-BCAC-2C51-C55A2A293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5C3C4-2370-B734-AFA3-F1F96925E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03AD-24D2-F04B-A5C1-AA31754D0B29}" type="datetimeFigureOut"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3588F-BFE8-14DC-7927-C6078500A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CD1F8-C396-DE68-E171-06B5B9E9F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24233-0586-EA44-99C2-E26DC30F537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329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1ED80-6B29-BF97-5E24-90120002A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BC69B-2519-C00A-7ED6-4B3D850CE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8F03B-6149-6334-C0CD-343AB4C3B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03AD-24D2-F04B-A5C1-AA31754D0B29}" type="datetimeFigureOut"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93516-BB31-DA4D-AB6F-BFB01C12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D5CDE-B307-21F2-867C-DC4DF8C4E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24233-0586-EA44-99C2-E26DC30F537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299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79E6A-17B8-778C-FF75-E619928E4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12D5B-44EE-EA69-D35D-B626A46A3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098F79-219E-C8B9-56F1-2A85BCDD2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6C47F3-7FED-DB77-E9F1-E29624879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03AD-24D2-F04B-A5C1-AA31754D0B29}" type="datetimeFigureOut"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EF1799-6EFC-203F-E1CB-253CAC90D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1442B-11ED-F7AA-01B8-2C3F0A493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24233-0586-EA44-99C2-E26DC30F537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486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7C431-DE4B-789D-E456-86E843FE9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58DA6-172B-3E50-92E9-D56DE9F2F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86F6EC-1FD3-07D2-3AD8-FA4B913BE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C3ABFD-6F34-181F-BECB-84D0612FAF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9D10FC-BD05-41C3-DE2E-969CC433D3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8D0D49-9A1B-0478-BDC8-4764F5078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03AD-24D2-F04B-A5C1-AA31754D0B29}" type="datetimeFigureOut">
              <a:t>4/24/26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EB4F06-A0FC-EA87-1CE2-78BCB70A0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07FF98-CB54-9036-8EDA-027CE6AB5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24233-0586-EA44-99C2-E26DC30F537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718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8E020-6054-97A7-8621-F2F73D571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2E7FC6-2721-FF5D-3412-027453A5A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03AD-24D2-F04B-A5C1-AA31754D0B29}" type="datetimeFigureOut">
              <a:t>4/24/26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BF4897-9117-CB63-FB09-E27C92E1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CC934C-583B-7272-2491-DC5C12203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24233-0586-EA44-99C2-E26DC30F537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464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54F60B-7360-BF46-C12F-8CE68A33A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03AD-24D2-F04B-A5C1-AA31754D0B29}" type="datetimeFigureOut">
              <a:t>4/24/26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71875E-A79C-81C5-3749-C58115613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3141A-05A2-C746-C8A1-60A7D25FC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24233-0586-EA44-99C2-E26DC30F537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254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7485E-2EB8-7700-F135-DE0C224CC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5F6BE-5394-C1FF-B7DF-1C5BC169B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18E153-E882-7D01-90F1-2257067BFA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70155E-1AA0-B9FA-DEB7-16EF2879D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03AD-24D2-F04B-A5C1-AA31754D0B29}" type="datetimeFigureOut"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3C570-79B3-D611-073E-63E112C68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EA60DF-032C-BDFB-61B8-E8DCB6CE7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24233-0586-EA44-99C2-E26DC30F537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223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CE054-39B5-8E60-05E0-5D51DD343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E3B5C4-9277-7D93-1F3F-7CD55984B4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CF05DD-F49D-E262-2EB1-63C906579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009B9-45C5-A0F0-43C5-44F18ED77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03AD-24D2-F04B-A5C1-AA31754D0B29}" type="datetimeFigureOut"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05333-E740-591E-B01A-4D03B6A77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3EF06A-7E9A-CA09-69B4-8E1E99438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24233-0586-EA44-99C2-E26DC30F537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738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4267E-81CC-F7F8-9DBA-AB2394D38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FFE4B-D240-94D3-5140-66C4985B7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D0411-E2C1-AC06-E40A-B13FA9AC3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03AD-24D2-F04B-A5C1-AA31754D0B29}" type="datetimeFigureOut"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1386E-7A89-2DFF-6177-D4FD5A8E0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93D28-63D2-BB70-16DF-1DD1DE52B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24233-0586-EA44-99C2-E26DC30F537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82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D3DC68-7388-25FF-0F7C-C72D7F34B8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E38907-869C-1080-2002-FB051E83A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757DF-7A85-348C-5F94-CD8677C6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03AD-24D2-F04B-A5C1-AA31754D0B29}" type="datetimeFigureOut"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8683E-816F-6E1A-A80F-81574D631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CBC1B-47DC-B7D3-7968-C87D6C7FA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24233-0586-EA44-99C2-E26DC30F537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11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2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524001"/>
            <a:ext cx="10972800" cy="4602163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http://ontologist.com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11CC99-896E-46B2-9B2B-ED07EA2F8C3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3945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: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403" y="685800"/>
            <a:ext cx="10761397" cy="9144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711200" y="1752602"/>
            <a:ext cx="5283200" cy="441959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6197602" y="1752600"/>
            <a:ext cx="5283199" cy="44196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GB"/>
              <a:t>Slide </a:t>
            </a:r>
            <a:fld id="{E44EE0AE-258D-448E-BE6F-A5950D95057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PwCFirm"/>
          <p:cNvSpPr txBox="1"/>
          <p:nvPr userDrawn="1"/>
        </p:nvSpPr>
        <p:spPr>
          <a:xfrm>
            <a:off x="711200" y="6477001"/>
            <a:ext cx="34544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GB" sz="1000" b="0" i="0" u="none" baseline="0" dirty="0" err="1">
              <a:effectLst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0883897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221FD-FEDD-9816-4FDF-0ADB1A564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B83AB-5001-69FB-F1B1-EEC2EAFC862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771EE-F263-DEDC-FA5A-E32A5CF80514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ABF96B-7FD3-8BF6-6AFF-7AD93ECC9F76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840B35F-9C75-6B8A-C955-688F975E2D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EF0469-3814-35AC-0A96-D870B2AB2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158104F-6263-9AC2-31E7-0400161C0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321081BA-C81A-6C40-949B-5527D8B924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1382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3F418-ED60-F5BE-1D0A-53F9347ED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1E2B5-F2E5-3642-14A1-0C11B9284824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37277-7078-0305-5022-44919E73AF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66F4C6-FEA3-996B-B714-BF3B0B0413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72CA7-EC54-3DEA-6FCE-BC17C0ECA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92FE4-5571-5BB6-88F5-D7D6930E0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0BC070DF-E348-D742-B246-3014A1395A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4125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E2E5439-FEBC-B1EA-540C-63BEEA560E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A290E2-70E9-2A15-B76D-8AD5482BB1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4260B8A-9E70-01BB-E312-7E256AB655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BC7EFF-E121-F843-94ED-15EC02967EB8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842160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E2A8B3-8D2F-D70B-E6B7-CBB4FE8D7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A30CC-EDFC-54F0-0044-07664F718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E6445-277D-3BA2-7EE7-E38C71E92A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3503AD-24D2-F04B-A5C1-AA31754D0B29}" type="datetimeFigureOut"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3E237-4CE6-4C50-3DAB-27E3859C2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ABBC7-97EE-5DB4-8DC8-23B77B649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F24233-0586-EA44-99C2-E26DC30F537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777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1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mmonCoreOntology/CommonCoreOntologie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mmonCoreOntology/CommonCoreOntologies/releases/tag/v2.1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mmonCoreOntology/CommonCoreOntologies/issues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rgs/CommonCoreOntology/projects/1/views/1?layout=board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mmonCoreOntology/CommonCoreOntologies/tree/develop/src/cco-extensions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twente.nl/en/eemcs/fois2024/resources/papers/jensen-et-al-the-common-core-ontologies.pdf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08E61-F804-806A-2AA5-C9030F5EE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2B585-44E0-F373-7D66-0A72DC0CFA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5214" y="1600200"/>
            <a:ext cx="10920248" cy="2387600"/>
          </a:xfrm>
        </p:spPr>
        <p:txBody>
          <a:bodyPr>
            <a:normAutofit/>
          </a:bodyPr>
          <a:lstStyle/>
          <a:p>
            <a:r>
              <a:rPr lang="en-US"/>
              <a:t>CCO Modernization Roadmap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DCAA0D-E344-416A-FADC-18BA89E9C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3117"/>
            <a:ext cx="9144000" cy="2307135"/>
          </a:xfrm>
        </p:spPr>
        <p:txBody>
          <a:bodyPr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John Beverley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/>
          </a:p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i="0"/>
              <a:t>President, </a:t>
            </a:r>
            <a:r>
              <a:rPr lang="en-US"/>
              <a:t>National Center for Ontological Research 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i="0"/>
              <a:t>Assistant Professor</a:t>
            </a:r>
            <a:r>
              <a:rPr lang="en-US"/>
              <a:t>, </a:t>
            </a:r>
            <a:r>
              <a:rPr lang="en-US" i="1"/>
              <a:t>University at Buffalo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i="0"/>
              <a:t>Associate Director</a:t>
            </a:r>
            <a:r>
              <a:rPr lang="en-US"/>
              <a:t>, </a:t>
            </a:r>
            <a:r>
              <a:rPr lang="en-US" i="1"/>
              <a:t>Institute of Artificial Intelligence and Data Science</a:t>
            </a:r>
          </a:p>
          <a:p>
            <a:endParaRPr lang="en-US"/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B764C2D-5C0F-9D13-E029-88FEEAFC0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99" y="304194"/>
            <a:ext cx="1638301" cy="141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840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01548-036E-4331-C43F-2D3BCEB6B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DF657-3093-952B-E547-9D6B247F6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CCO Governance Board &amp; NCOR</a:t>
            </a:r>
          </a:p>
          <a:p>
            <a:endParaRPr lang="en-US"/>
          </a:p>
          <a:p>
            <a:r>
              <a:rPr lang="en-US"/>
              <a:t>CCO Modernization Effort</a:t>
            </a:r>
          </a:p>
          <a:p>
            <a:endParaRPr lang="en-US"/>
          </a:p>
          <a:p>
            <a:r>
              <a:rPr lang="en-US"/>
              <a:t>CCO Future Release Strategy 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468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69078-4F19-DCF5-A4BA-F6AE9D514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FD40C-B4C9-68A7-6D46-C3259E519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A5DDA-FA13-C552-183B-ADC63E201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CCO Governance Board &amp; NCOR</a:t>
            </a:r>
          </a:p>
          <a:p>
            <a:endParaRPr lang="en-US"/>
          </a:p>
          <a:p>
            <a:r>
              <a:rPr lang="en-US"/>
              <a:t>CCO Modernization Effort</a:t>
            </a:r>
          </a:p>
          <a:p>
            <a:endParaRPr lang="en-US"/>
          </a:p>
          <a:p>
            <a:r>
              <a:rPr lang="en-US"/>
              <a:t>CCO Future Release Strategy 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915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042B2-24D4-88A5-2319-80E6F980A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screenshot of a black and white page&#10;&#10;Description automatically generated">
            <a:extLst>
              <a:ext uri="{FF2B5EF4-FFF2-40B4-BE49-F238E27FC236}">
                <a16:creationId xmlns:a16="http://schemas.microsoft.com/office/drawing/2014/main" id="{3B3A626B-76BA-6EF9-2431-BA3AC6045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476" y="181369"/>
            <a:ext cx="9646690" cy="597712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0EC63F9-D772-8295-6AD9-F03DE2529FE5}"/>
              </a:ext>
            </a:extLst>
          </p:cNvPr>
          <p:cNvSpPr txBox="1"/>
          <p:nvPr/>
        </p:nvSpPr>
        <p:spPr>
          <a:xfrm>
            <a:off x="1377758" y="6305110"/>
            <a:ext cx="9436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  <a:hlinkClick r:id="rId3"/>
              </a:rPr>
              <a:t>https://github.com/CommonCoreOntology/CommonCoreOntologies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35698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235BF7-C439-8D41-9861-A1F95B6F60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938" y="647700"/>
            <a:ext cx="12047062" cy="488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883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7">
            <a:extLst>
              <a:ext uri="{FF2B5EF4-FFF2-40B4-BE49-F238E27FC236}">
                <a16:creationId xmlns:a16="http://schemas.microsoft.com/office/drawing/2014/main" id="{F5BD2A34-AFD7-86E8-A04A-A4C082D4A17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48" r="2558" b="2288"/>
          <a:stretch/>
        </p:blipFill>
        <p:spPr>
          <a:xfrm>
            <a:off x="2099352" y="1373113"/>
            <a:ext cx="7993295" cy="493834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F6C1C15-8E6D-AE14-47DE-376E0A0CC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CCO Governance Board</a:t>
            </a:r>
          </a:p>
        </p:txBody>
      </p:sp>
      <p:pic>
        <p:nvPicPr>
          <p:cNvPr id="7" name="Picture 6" descr="A document with text on it&#10;&#10;Description automatically generated">
            <a:extLst>
              <a:ext uri="{FF2B5EF4-FFF2-40B4-BE49-F238E27FC236}">
                <a16:creationId xmlns:a16="http://schemas.microsoft.com/office/drawing/2014/main" id="{E7A7812A-05DC-07AD-026C-432E93BBEB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499"/>
          <a:stretch>
            <a:fillRect/>
          </a:stretch>
        </p:blipFill>
        <p:spPr>
          <a:xfrm>
            <a:off x="1512571" y="1373113"/>
            <a:ext cx="9001433" cy="493834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61839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F3956-FE9A-6859-DCFE-D2DBBBBEB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7">
            <a:extLst>
              <a:ext uri="{FF2B5EF4-FFF2-40B4-BE49-F238E27FC236}">
                <a16:creationId xmlns:a16="http://schemas.microsoft.com/office/drawing/2014/main" id="{E19C521D-2BCF-05E6-D7C6-F257D25DA99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48" r="2558" b="2288"/>
          <a:stretch/>
        </p:blipFill>
        <p:spPr>
          <a:xfrm>
            <a:off x="2099352" y="1373113"/>
            <a:ext cx="7993295" cy="4938349"/>
          </a:xfrm>
          <a:prstGeom prst="rect">
            <a:avLst/>
          </a:prstGeom>
        </p:spPr>
      </p:pic>
      <p:pic>
        <p:nvPicPr>
          <p:cNvPr id="8" name="Picture 7" descr="A document with text on it&#10;&#10;Description automatically generated">
            <a:extLst>
              <a:ext uri="{FF2B5EF4-FFF2-40B4-BE49-F238E27FC236}">
                <a16:creationId xmlns:a16="http://schemas.microsoft.com/office/drawing/2014/main" id="{B40BBCE6-DB35-E834-9017-7B25B1E063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499"/>
          <a:stretch>
            <a:fillRect/>
          </a:stretch>
        </p:blipFill>
        <p:spPr>
          <a:xfrm>
            <a:off x="1512571" y="1373113"/>
            <a:ext cx="9001433" cy="49383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50F1676-6732-7BEC-E20E-C1BAD2F0C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CCO Governance Board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25DE730C-4E22-094F-C687-9BD3BCA57ADF}"/>
              </a:ext>
            </a:extLst>
          </p:cNvPr>
          <p:cNvSpPr/>
          <p:nvPr/>
        </p:nvSpPr>
        <p:spPr>
          <a:xfrm rot="10800000">
            <a:off x="970919" y="5182703"/>
            <a:ext cx="406400" cy="1066800"/>
          </a:xfrm>
          <a:prstGeom prst="rightBrac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3F1C03-907B-005A-C249-442C7D2B4F30}"/>
              </a:ext>
            </a:extLst>
          </p:cNvPr>
          <p:cNvSpPr txBox="1"/>
          <p:nvPr/>
        </p:nvSpPr>
        <p:spPr>
          <a:xfrm rot="16200000">
            <a:off x="-607933" y="5049275"/>
            <a:ext cx="2517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aramond" panose="02020404030301010803" pitchFamily="18" charset="0"/>
              </a:rPr>
              <a:t>CCO Board of Directors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9C17AA-D261-D188-BB9B-B22FE434DC96}"/>
              </a:ext>
            </a:extLst>
          </p:cNvPr>
          <p:cNvCxnSpPr/>
          <p:nvPr/>
        </p:nvCxnSpPr>
        <p:spPr>
          <a:xfrm>
            <a:off x="3423684" y="5284381"/>
            <a:ext cx="116958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7041BE9-CDA3-0249-99C6-862F189AD59F}"/>
              </a:ext>
            </a:extLst>
          </p:cNvPr>
          <p:cNvSpPr txBox="1"/>
          <p:nvPr/>
        </p:nvSpPr>
        <p:spPr>
          <a:xfrm>
            <a:off x="4583168" y="5115104"/>
            <a:ext cx="30155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Garamond" panose="02020404030301010803" pitchFamily="18" charset="0"/>
              </a:rPr>
              <a:t>US Customs and Border Protection</a:t>
            </a:r>
          </a:p>
        </p:txBody>
      </p:sp>
    </p:spTree>
    <p:extLst>
      <p:ext uri="{BB962C8B-B14F-4D97-AF65-F5344CB8AC3E}">
        <p14:creationId xmlns:p14="http://schemas.microsoft.com/office/powerpoint/2010/main" val="111256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95152-F6BD-AB29-8682-C4D622B7C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NCOR 501(c)3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07759-7C0B-7D4F-DEC3-A12A81760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061700" cy="4869465"/>
          </a:xfrm>
        </p:spPr>
        <p:txBody>
          <a:bodyPr>
            <a:normAutofit/>
          </a:bodyPr>
          <a:lstStyle/>
          <a:p>
            <a:r>
              <a:rPr lang="en-US"/>
              <a:t>Established as a non-profit at the end of 2024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Board of Directors: Barry Smith &amp; John Beverley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Accepts donations, service contracts, </a:t>
            </a:r>
            <a:br>
              <a:rPr lang="en-US"/>
            </a:br>
            <a:r>
              <a:rPr lang="en-US"/>
              <a:t>conference hosting, etc. </a:t>
            </a:r>
          </a:p>
          <a:p>
            <a:endParaRPr lang="en-US"/>
          </a:p>
          <a:p>
            <a:r>
              <a:rPr lang="en-US"/>
              <a:t>Recently, funded by USAF Air Combat Command to mature CCO into a stable artifact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BBE4F-826C-B6DD-D268-BD640B7FA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7669" y="162911"/>
            <a:ext cx="3237185" cy="421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610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FAA97-B5A3-705D-1BFD-61B27B2D3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CCO Governance Board &amp; NCOR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CC2FF-66E4-C49C-D26C-33A5EB83B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8375"/>
          </a:xfrm>
        </p:spPr>
        <p:txBody>
          <a:bodyPr/>
          <a:lstStyle/>
          <a:p>
            <a:r>
              <a:rPr lang="en-US"/>
              <a:t>Overlapping membership (Barry &amp; John); John leading CCO modernization effort for NCOR</a:t>
            </a:r>
          </a:p>
          <a:p>
            <a:endParaRPr lang="en-US"/>
          </a:p>
          <a:p>
            <a:r>
              <a:rPr lang="en-US"/>
              <a:t>As with any changes to CCO, updates ultimately go through governance board members</a:t>
            </a:r>
          </a:p>
          <a:p>
            <a:endParaRPr lang="en-US"/>
          </a:p>
          <a:p>
            <a:r>
              <a:rPr lang="en-US"/>
              <a:t>For 2.1 release, NCOR coordinated updates to repositories and artifacts</a:t>
            </a:r>
          </a:p>
          <a:p>
            <a:endParaRPr lang="en-US"/>
          </a:p>
          <a:p>
            <a:r>
              <a:rPr lang="en-US"/>
              <a:t>NCOR to coordinate directly with CCO Developer Group for later releases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485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ECBDB-F314-394C-6CAB-88AFF038E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244A0-4618-9F2D-B948-F49DBA616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AB242-14E5-4778-C791-D96934C4E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CCO Governance Board &amp; NCOR</a:t>
            </a:r>
          </a:p>
          <a:p>
            <a:endParaRPr lang="en-US"/>
          </a:p>
          <a:p>
            <a:r>
              <a:rPr lang="en-US">
                <a:solidFill>
                  <a:srgbClr val="FF0000"/>
                </a:solidFill>
              </a:rPr>
              <a:t>CCO Modernization Effort</a:t>
            </a:r>
          </a:p>
          <a:p>
            <a:endParaRPr lang="en-US"/>
          </a:p>
          <a:p>
            <a:r>
              <a:rPr lang="en-US"/>
              <a:t>CCO Future Release Strategy 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270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progress on a white background&#10;&#10;AI-generated content may be incorrect.">
            <a:extLst>
              <a:ext uri="{FF2B5EF4-FFF2-40B4-BE49-F238E27FC236}">
                <a16:creationId xmlns:a16="http://schemas.microsoft.com/office/drawing/2014/main" id="{D98948CB-DA60-E591-738A-C8467CF9E4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580" y="82458"/>
            <a:ext cx="8986840" cy="66930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79949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B7B66-6FB1-09DD-C14D-43C6CFBD3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progress on a white background&#10;&#10;AI-generated content may be incorrect.">
            <a:extLst>
              <a:ext uri="{FF2B5EF4-FFF2-40B4-BE49-F238E27FC236}">
                <a16:creationId xmlns:a16="http://schemas.microsoft.com/office/drawing/2014/main" id="{1A3F338E-3E77-0FF3-264C-3073E51CDE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580" y="82458"/>
            <a:ext cx="8986840" cy="66930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FAE80737-3480-4656-4CD4-5D64750C603A}"/>
              </a:ext>
            </a:extLst>
          </p:cNvPr>
          <p:cNvSpPr/>
          <p:nvPr/>
        </p:nvSpPr>
        <p:spPr>
          <a:xfrm>
            <a:off x="1602580" y="571500"/>
            <a:ext cx="2842420" cy="11684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556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6BF4A9-02AA-3EE9-3F44-3F64B90F4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500753"/>
              </p:ext>
            </p:extLst>
          </p:nvPr>
        </p:nvGraphicFramePr>
        <p:xfrm>
          <a:off x="0" y="0"/>
          <a:ext cx="12192000" cy="68580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34181">
                  <a:extLst>
                    <a:ext uri="{9D8B030D-6E8A-4147-A177-3AD203B41FA5}">
                      <a16:colId xmlns:a16="http://schemas.microsoft.com/office/drawing/2014/main" val="850963920"/>
                    </a:ext>
                  </a:extLst>
                </a:gridCol>
                <a:gridCol w="2064774">
                  <a:extLst>
                    <a:ext uri="{9D8B030D-6E8A-4147-A177-3AD203B41FA5}">
                      <a16:colId xmlns:a16="http://schemas.microsoft.com/office/drawing/2014/main" val="4078239696"/>
                    </a:ext>
                  </a:extLst>
                </a:gridCol>
                <a:gridCol w="5088193">
                  <a:extLst>
                    <a:ext uri="{9D8B030D-6E8A-4147-A177-3AD203B41FA5}">
                      <a16:colId xmlns:a16="http://schemas.microsoft.com/office/drawing/2014/main" val="3785857815"/>
                    </a:ext>
                  </a:extLst>
                </a:gridCol>
                <a:gridCol w="4404852">
                  <a:extLst>
                    <a:ext uri="{9D8B030D-6E8A-4147-A177-3AD203B41FA5}">
                      <a16:colId xmlns:a16="http://schemas.microsoft.com/office/drawing/2014/main" val="2579494152"/>
                    </a:ext>
                  </a:extLst>
                </a:gridCol>
              </a:tblGrid>
              <a:tr h="29160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Deliverable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Description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Acceptance Criteria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3444001731"/>
                  </a:ext>
                </a:extLst>
              </a:tr>
              <a:tr h="11529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CCO Release 2.1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2.1 release of CCO reflecting prioritized fixes, corrections, and updates identified during transition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Release published with version tag, release notes, and reproducible build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1219783654"/>
                  </a:ext>
                </a:extLst>
              </a:tr>
              <a:tr h="11529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1A-2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Issue Tracker Triage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Systematic review of existing GitHub issues, including resolution, deferral, or closure with rationale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≥70–80% of legacy issues resolved or dispositioned; labels standardized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3055576818"/>
                  </a:ext>
                </a:extLst>
              </a:tr>
              <a:tr h="9223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1A-3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Public Project Board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GitHub Projects board tracking milestones, issues, and releases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Board publicly accessible and updated weekly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310596650"/>
                  </a:ext>
                </a:extLst>
              </a:tr>
              <a:tr h="138351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1A-4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Domain Extension 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At least one domain-specific extension module scoped, implemented, and integrated with core CCO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Module versioned, documented, and released alongside CCO 2.1 and QC-covered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1693925947"/>
                  </a:ext>
                </a:extLst>
              </a:tr>
              <a:tr h="11529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1A-5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Biweekly Office Hours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Regular stakeholder support sessions addressing modeling, usage, and transition questions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Sessions held; questions documented and summarized, hosted on website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1654838932"/>
                  </a:ext>
                </a:extLst>
              </a:tr>
              <a:tr h="80177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1A-6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QC Automation Baseline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Initial CI/CD pipeline implementing automated ontology quality checks (OWL, SHACL, SPARQL, etc.)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Automated checks run on PRs and main branch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3056056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2370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3AF4B-35B1-2A17-EEDA-23396C28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A29AB59-E1FA-6A6C-FB62-C1077617BD74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68580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34181">
                  <a:extLst>
                    <a:ext uri="{9D8B030D-6E8A-4147-A177-3AD203B41FA5}">
                      <a16:colId xmlns:a16="http://schemas.microsoft.com/office/drawing/2014/main" val="850963920"/>
                    </a:ext>
                  </a:extLst>
                </a:gridCol>
                <a:gridCol w="2064774">
                  <a:extLst>
                    <a:ext uri="{9D8B030D-6E8A-4147-A177-3AD203B41FA5}">
                      <a16:colId xmlns:a16="http://schemas.microsoft.com/office/drawing/2014/main" val="4078239696"/>
                    </a:ext>
                  </a:extLst>
                </a:gridCol>
                <a:gridCol w="5088193">
                  <a:extLst>
                    <a:ext uri="{9D8B030D-6E8A-4147-A177-3AD203B41FA5}">
                      <a16:colId xmlns:a16="http://schemas.microsoft.com/office/drawing/2014/main" val="3785857815"/>
                    </a:ext>
                  </a:extLst>
                </a:gridCol>
                <a:gridCol w="4404852">
                  <a:extLst>
                    <a:ext uri="{9D8B030D-6E8A-4147-A177-3AD203B41FA5}">
                      <a16:colId xmlns:a16="http://schemas.microsoft.com/office/drawing/2014/main" val="2579494152"/>
                    </a:ext>
                  </a:extLst>
                </a:gridCol>
              </a:tblGrid>
              <a:tr h="29160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Deliverable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Description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Acceptance Criteria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3444001731"/>
                  </a:ext>
                </a:extLst>
              </a:tr>
              <a:tr h="11529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CCO Release 2.1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2.1 release of CCO reflecting prioritized fixes, corrections, and updates identified during transition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Release published with version tag, release notes, and reproducible build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1219783654"/>
                  </a:ext>
                </a:extLst>
              </a:tr>
              <a:tr h="11529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1A-2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Issue Tracker Triage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Systematic review of existing GitHub issues, including resolution, deferral, or closure with rationale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≥70–80% of legacy issues resolved or dispositioned; labels standardized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3055576818"/>
                  </a:ext>
                </a:extLst>
              </a:tr>
              <a:tr h="9223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1A-3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Public Project Board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GitHub Projects board tracking milestones, issues, and releases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Board publicly accessible and updated weekly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310596650"/>
                  </a:ext>
                </a:extLst>
              </a:tr>
              <a:tr h="138351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1A-4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Domain Extension 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At least one domain-specific extension module scoped, implemented, and integrated with core CCO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Module versioned, documented, and released alongside CCO 2.1 and QC-covered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1693925947"/>
                  </a:ext>
                </a:extLst>
              </a:tr>
              <a:tr h="11529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1A-5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Biweekly Office Hours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Regular stakeholder support sessions addressing modeling, usage, and transition questions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Sessions held; questions documented and summarized, hosted on website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1654838932"/>
                  </a:ext>
                </a:extLst>
              </a:tr>
              <a:tr h="80177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1A-6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QC Automation Baseline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Initial CI/CD pipeline implementing automated ontology quality checks (OWL, SHACL, SPARQL, etc.)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Automated checks run on PRs and main branch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3056056613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A0C28574-0307-1972-0C4C-0D83EB2446E6}"/>
              </a:ext>
            </a:extLst>
          </p:cNvPr>
          <p:cNvSpPr/>
          <p:nvPr/>
        </p:nvSpPr>
        <p:spPr>
          <a:xfrm>
            <a:off x="596900" y="228600"/>
            <a:ext cx="1739900" cy="431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89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95106-70EF-648A-BAEF-F105F2C4A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F270D-5D70-15C3-EA86-7F90F7C5D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CCO 2.1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44C4B7-5338-1227-DDF0-81972BCCC8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29400" y="258432"/>
            <a:ext cx="4557151" cy="59797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FEE1B6B-B45C-F3F1-3EB2-B0ECA977D33E}"/>
              </a:ext>
            </a:extLst>
          </p:cNvPr>
          <p:cNvSpPr txBox="1"/>
          <p:nvPr/>
        </p:nvSpPr>
        <p:spPr>
          <a:xfrm>
            <a:off x="1600200" y="6308209"/>
            <a:ext cx="899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Garamond" panose="02020404030301010803" pitchFamily="18" charset="0"/>
                <a:hlinkClick r:id="rId3"/>
              </a:rPr>
              <a:t>https://github.com/CommonCoreOntology/CommonCoreOntologies/releases/tag/v2.1</a:t>
            </a:r>
            <a:r>
              <a:rPr lang="en-US" b="1"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ED7795-7B95-4E0E-BEB7-98A4410B3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75" y="1703388"/>
            <a:ext cx="5216915" cy="447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031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297F0-DF14-20BA-C5C3-0B06DCCBF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5D85F5-C334-4E19-2B91-87F245AEB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58" y="110236"/>
            <a:ext cx="11919683" cy="663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859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47A1C-F325-C716-C7F9-346960DF7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77C08B-B9D2-05A6-8131-D7539FFDE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58" y="110236"/>
            <a:ext cx="11919683" cy="6637528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980331D9-40EC-E070-C5EB-7D4231360B9C}"/>
              </a:ext>
            </a:extLst>
          </p:cNvPr>
          <p:cNvSpPr/>
          <p:nvPr/>
        </p:nvSpPr>
        <p:spPr>
          <a:xfrm>
            <a:off x="1756384" y="1810616"/>
            <a:ext cx="2266976" cy="6001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7529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EB4D2-8B81-6EA5-F443-660FD50D6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898A60-7287-CD2F-3E03-0CE059404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58" y="110236"/>
            <a:ext cx="11919683" cy="6637528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5C2F267D-9544-12E6-5262-62583F6E8EE0}"/>
              </a:ext>
            </a:extLst>
          </p:cNvPr>
          <p:cNvSpPr/>
          <p:nvPr/>
        </p:nvSpPr>
        <p:spPr>
          <a:xfrm>
            <a:off x="245084" y="1061316"/>
            <a:ext cx="2266976" cy="6001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89005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1B995-C1B0-6DC2-7559-36612909C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oup of men's faces&#10;&#10;Description automatically generated">
            <a:extLst>
              <a:ext uri="{FF2B5EF4-FFF2-40B4-BE49-F238E27FC236}">
                <a16:creationId xmlns:a16="http://schemas.microsoft.com/office/drawing/2014/main" id="{C49BC1C9-620A-84EA-0B03-C7CEE9464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0" y="2660650"/>
            <a:ext cx="4064000" cy="1536700"/>
          </a:xfrm>
          <a:prstGeom prst="rect">
            <a:avLst/>
          </a:prstGeom>
        </p:spPr>
      </p:pic>
      <p:pic>
        <p:nvPicPr>
          <p:cNvPr id="17" name="Picture 16" descr="A diagram of a train&#10;&#10;Description automatically generated">
            <a:extLst>
              <a:ext uri="{FF2B5EF4-FFF2-40B4-BE49-F238E27FC236}">
                <a16:creationId xmlns:a16="http://schemas.microsoft.com/office/drawing/2014/main" id="{B7BCE959-3D37-C657-4532-8DE27CD98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041" y="139458"/>
            <a:ext cx="9330559" cy="4412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1843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F901F-AF62-9B2B-4B73-373BD0D3A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phone&#10;&#10;Description automatically generated">
            <a:extLst>
              <a:ext uri="{FF2B5EF4-FFF2-40B4-BE49-F238E27FC236}">
                <a16:creationId xmlns:a16="http://schemas.microsoft.com/office/drawing/2014/main" id="{D517D055-8E66-8A1A-DC43-6625C1839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020" y="5118342"/>
            <a:ext cx="5067300" cy="1600200"/>
          </a:xfrm>
          <a:prstGeom prst="rect">
            <a:avLst/>
          </a:prstGeom>
        </p:spPr>
      </p:pic>
      <p:pic>
        <p:nvPicPr>
          <p:cNvPr id="7" name="Picture 6" descr="A group of men's faces&#10;&#10;Description automatically generated">
            <a:extLst>
              <a:ext uri="{FF2B5EF4-FFF2-40B4-BE49-F238E27FC236}">
                <a16:creationId xmlns:a16="http://schemas.microsoft.com/office/drawing/2014/main" id="{72E6F547-3EB3-2AF3-F21A-894981F47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660650"/>
            <a:ext cx="4064000" cy="1536700"/>
          </a:xfrm>
          <a:prstGeom prst="rect">
            <a:avLst/>
          </a:prstGeom>
        </p:spPr>
      </p:pic>
      <p:pic>
        <p:nvPicPr>
          <p:cNvPr id="17" name="Picture 16" descr="A diagram of a train&#10;&#10;Description automatically generated">
            <a:extLst>
              <a:ext uri="{FF2B5EF4-FFF2-40B4-BE49-F238E27FC236}">
                <a16:creationId xmlns:a16="http://schemas.microsoft.com/office/drawing/2014/main" id="{D7950D22-4278-77FC-03C2-33AF8F8D6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041" y="139458"/>
            <a:ext cx="9330559" cy="4412646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FF5C59F-283F-D46B-940F-847E2528C391}"/>
              </a:ext>
            </a:extLst>
          </p:cNvPr>
          <p:cNvCxnSpPr>
            <a:cxnSpLocks/>
          </p:cNvCxnSpPr>
          <p:nvPr/>
        </p:nvCxnSpPr>
        <p:spPr>
          <a:xfrm flipV="1">
            <a:off x="2490952" y="2438400"/>
            <a:ext cx="0" cy="366811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790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0C908-ED2B-6009-94C2-097637618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phone&#10;&#10;Description automatically generated">
            <a:extLst>
              <a:ext uri="{FF2B5EF4-FFF2-40B4-BE49-F238E27FC236}">
                <a16:creationId xmlns:a16="http://schemas.microsoft.com/office/drawing/2014/main" id="{82B68798-05E5-A514-72B4-5B0CF20A5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662" y="4610100"/>
            <a:ext cx="5029200" cy="2247900"/>
          </a:xfrm>
          <a:prstGeom prst="rect">
            <a:avLst/>
          </a:prstGeom>
        </p:spPr>
      </p:pic>
      <p:pic>
        <p:nvPicPr>
          <p:cNvPr id="7" name="Picture 6" descr="A group of men's faces&#10;&#10;Description automatically generated">
            <a:extLst>
              <a:ext uri="{FF2B5EF4-FFF2-40B4-BE49-F238E27FC236}">
                <a16:creationId xmlns:a16="http://schemas.microsoft.com/office/drawing/2014/main" id="{81A018D2-50FA-7829-C43D-69758C0D7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660650"/>
            <a:ext cx="4064000" cy="1536700"/>
          </a:xfrm>
          <a:prstGeom prst="rect">
            <a:avLst/>
          </a:prstGeom>
        </p:spPr>
      </p:pic>
      <p:pic>
        <p:nvPicPr>
          <p:cNvPr id="13" name="Picture 12" descr="A screenshot of a phone&#10;&#10;Description automatically generated">
            <a:extLst>
              <a:ext uri="{FF2B5EF4-FFF2-40B4-BE49-F238E27FC236}">
                <a16:creationId xmlns:a16="http://schemas.microsoft.com/office/drawing/2014/main" id="{CB4AB25B-9288-E2B7-586E-7E432D70ED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020" y="5118342"/>
            <a:ext cx="5067300" cy="1600200"/>
          </a:xfrm>
          <a:prstGeom prst="rect">
            <a:avLst/>
          </a:prstGeom>
        </p:spPr>
      </p:pic>
      <p:pic>
        <p:nvPicPr>
          <p:cNvPr id="17" name="Picture 16" descr="A diagram of a train&#10;&#10;Description automatically generated">
            <a:extLst>
              <a:ext uri="{FF2B5EF4-FFF2-40B4-BE49-F238E27FC236}">
                <a16:creationId xmlns:a16="http://schemas.microsoft.com/office/drawing/2014/main" id="{FE8248B5-7DE2-A61E-8281-42BE4A4DE2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5041" y="139458"/>
            <a:ext cx="9330559" cy="4412646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93616A1-5E11-07E8-0764-DE458912C1F4}"/>
              </a:ext>
            </a:extLst>
          </p:cNvPr>
          <p:cNvCxnSpPr>
            <a:cxnSpLocks/>
          </p:cNvCxnSpPr>
          <p:nvPr/>
        </p:nvCxnSpPr>
        <p:spPr>
          <a:xfrm flipH="1" flipV="1">
            <a:off x="2827283" y="1135117"/>
            <a:ext cx="4677103" cy="430924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4520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E6596-CB02-9D6B-F749-5E83B3653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phone&#10;&#10;Description automatically generated">
            <a:extLst>
              <a:ext uri="{FF2B5EF4-FFF2-40B4-BE49-F238E27FC236}">
                <a16:creationId xmlns:a16="http://schemas.microsoft.com/office/drawing/2014/main" id="{402F6186-3EB5-715D-9D1A-2998479E4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662" y="4610100"/>
            <a:ext cx="5029200" cy="2247900"/>
          </a:xfrm>
          <a:prstGeom prst="rect">
            <a:avLst/>
          </a:prstGeom>
        </p:spPr>
      </p:pic>
      <p:pic>
        <p:nvPicPr>
          <p:cNvPr id="7" name="Picture 6" descr="A group of men's faces&#10;&#10;Description automatically generated">
            <a:extLst>
              <a:ext uri="{FF2B5EF4-FFF2-40B4-BE49-F238E27FC236}">
                <a16:creationId xmlns:a16="http://schemas.microsoft.com/office/drawing/2014/main" id="{DB878F22-E5A5-B19B-1797-579705E37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660650"/>
            <a:ext cx="4064000" cy="1536700"/>
          </a:xfrm>
          <a:prstGeom prst="rect">
            <a:avLst/>
          </a:prstGeom>
        </p:spPr>
      </p:pic>
      <p:pic>
        <p:nvPicPr>
          <p:cNvPr id="13" name="Picture 12" descr="A screenshot of a phone&#10;&#10;Description automatically generated">
            <a:extLst>
              <a:ext uri="{FF2B5EF4-FFF2-40B4-BE49-F238E27FC236}">
                <a16:creationId xmlns:a16="http://schemas.microsoft.com/office/drawing/2014/main" id="{AE935D80-0DEF-5E38-3525-FEB8CB0FD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020" y="5118342"/>
            <a:ext cx="5067300" cy="1600200"/>
          </a:xfrm>
          <a:prstGeom prst="rect">
            <a:avLst/>
          </a:prstGeom>
        </p:spPr>
      </p:pic>
      <p:pic>
        <p:nvPicPr>
          <p:cNvPr id="17" name="Picture 16" descr="A diagram of a train&#10;&#10;Description automatically generated">
            <a:extLst>
              <a:ext uri="{FF2B5EF4-FFF2-40B4-BE49-F238E27FC236}">
                <a16:creationId xmlns:a16="http://schemas.microsoft.com/office/drawing/2014/main" id="{FDD59129-9D7B-831F-D2C1-0A58A252E2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5041" y="139458"/>
            <a:ext cx="9330559" cy="4412646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94F1C7C-5902-6C45-3545-3E659C27F91E}"/>
              </a:ext>
            </a:extLst>
          </p:cNvPr>
          <p:cNvCxnSpPr>
            <a:cxnSpLocks/>
          </p:cNvCxnSpPr>
          <p:nvPr/>
        </p:nvCxnSpPr>
        <p:spPr>
          <a:xfrm flipH="1" flipV="1">
            <a:off x="8029903" y="2247900"/>
            <a:ext cx="987973" cy="381656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9EDD4890-D561-A891-F9FC-7672732B91D8}"/>
              </a:ext>
            </a:extLst>
          </p:cNvPr>
          <p:cNvSpPr/>
          <p:nvPr/>
        </p:nvSpPr>
        <p:spPr>
          <a:xfrm>
            <a:off x="7882758" y="6201103"/>
            <a:ext cx="2953407" cy="6001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85220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C6713-619D-F546-3C7F-AA5C6449B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BC873D-371B-444B-73D5-80313A865DA8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68580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34181">
                  <a:extLst>
                    <a:ext uri="{9D8B030D-6E8A-4147-A177-3AD203B41FA5}">
                      <a16:colId xmlns:a16="http://schemas.microsoft.com/office/drawing/2014/main" val="850963920"/>
                    </a:ext>
                  </a:extLst>
                </a:gridCol>
                <a:gridCol w="2064774">
                  <a:extLst>
                    <a:ext uri="{9D8B030D-6E8A-4147-A177-3AD203B41FA5}">
                      <a16:colId xmlns:a16="http://schemas.microsoft.com/office/drawing/2014/main" val="4078239696"/>
                    </a:ext>
                  </a:extLst>
                </a:gridCol>
                <a:gridCol w="5088193">
                  <a:extLst>
                    <a:ext uri="{9D8B030D-6E8A-4147-A177-3AD203B41FA5}">
                      <a16:colId xmlns:a16="http://schemas.microsoft.com/office/drawing/2014/main" val="3785857815"/>
                    </a:ext>
                  </a:extLst>
                </a:gridCol>
                <a:gridCol w="4404852">
                  <a:extLst>
                    <a:ext uri="{9D8B030D-6E8A-4147-A177-3AD203B41FA5}">
                      <a16:colId xmlns:a16="http://schemas.microsoft.com/office/drawing/2014/main" val="2579494152"/>
                    </a:ext>
                  </a:extLst>
                </a:gridCol>
              </a:tblGrid>
              <a:tr h="29160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Deliverable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Description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Acceptance Criteria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3444001731"/>
                  </a:ext>
                </a:extLst>
              </a:tr>
              <a:tr h="11529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CCO Release 2.1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2.1 release of CCO reflecting prioritized fixes, corrections, and updates identified during transition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Release published with version tag, release notes, and reproducible build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1219783654"/>
                  </a:ext>
                </a:extLst>
              </a:tr>
              <a:tr h="11529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1A-2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Issue Tracker Triage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Systematic review of existing GitHub issues, including resolution, deferral, or closure with rationale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≥70–80% of legacy issues resolved or dispositioned; labels standardized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3055576818"/>
                  </a:ext>
                </a:extLst>
              </a:tr>
              <a:tr h="9223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1A-3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Public Project Board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GitHub Projects board tracking milestones, issues, and releases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Board publicly accessible and updated weekly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310596650"/>
                  </a:ext>
                </a:extLst>
              </a:tr>
              <a:tr h="138351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1A-4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Domain Extension 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At least one domain-specific extension module scoped, implemented, and integrated with core CCO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Module versioned, documented, and released alongside CCO 2.1 and QC-covered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1693925947"/>
                  </a:ext>
                </a:extLst>
              </a:tr>
              <a:tr h="11529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1A-5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Biweekly Office Hours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Regular stakeholder support sessions addressing modeling, usage, and transition questions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Sessions held; questions documented and summarized, hosted on website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1654838932"/>
                  </a:ext>
                </a:extLst>
              </a:tr>
              <a:tr h="80177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1A-6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QC Automation Baseline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Initial CI/CD pipeline implementing automated ontology quality checks (OWL, SHACL, SPARQL, etc.)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Automated checks run on PRs and main branch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3056056613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6448ECFB-C523-9395-45C2-F084608D3BD1}"/>
              </a:ext>
            </a:extLst>
          </p:cNvPr>
          <p:cNvSpPr/>
          <p:nvPr/>
        </p:nvSpPr>
        <p:spPr>
          <a:xfrm>
            <a:off x="444500" y="1384300"/>
            <a:ext cx="2209800" cy="431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642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749DF-67EC-7073-127B-2C6605678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CCO Issue Tracker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FD03A7-ADC0-2EEB-230E-91C483F53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36926" cy="40059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247FB7-5397-A956-FD0B-FA259EBD8C17}"/>
              </a:ext>
            </a:extLst>
          </p:cNvPr>
          <p:cNvSpPr txBox="1"/>
          <p:nvPr/>
        </p:nvSpPr>
        <p:spPr>
          <a:xfrm>
            <a:off x="2260600" y="6123542"/>
            <a:ext cx="8039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Garamond" panose="02020404030301010803" pitchFamily="18" charset="0"/>
                <a:hlinkClick r:id="rId3"/>
              </a:rPr>
              <a:t>https://github.com/CommonCoreOntology/CommonCoreOntologies/issues</a:t>
            </a:r>
            <a:r>
              <a:rPr lang="en-US" b="1"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29184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139B5-2226-562A-A7FC-C59C75D71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982C77E-E589-FBAA-36E1-CE4AC5F0E18C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68580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34181">
                  <a:extLst>
                    <a:ext uri="{9D8B030D-6E8A-4147-A177-3AD203B41FA5}">
                      <a16:colId xmlns:a16="http://schemas.microsoft.com/office/drawing/2014/main" val="850963920"/>
                    </a:ext>
                  </a:extLst>
                </a:gridCol>
                <a:gridCol w="2064774">
                  <a:extLst>
                    <a:ext uri="{9D8B030D-6E8A-4147-A177-3AD203B41FA5}">
                      <a16:colId xmlns:a16="http://schemas.microsoft.com/office/drawing/2014/main" val="4078239696"/>
                    </a:ext>
                  </a:extLst>
                </a:gridCol>
                <a:gridCol w="5088193">
                  <a:extLst>
                    <a:ext uri="{9D8B030D-6E8A-4147-A177-3AD203B41FA5}">
                      <a16:colId xmlns:a16="http://schemas.microsoft.com/office/drawing/2014/main" val="3785857815"/>
                    </a:ext>
                  </a:extLst>
                </a:gridCol>
                <a:gridCol w="4404852">
                  <a:extLst>
                    <a:ext uri="{9D8B030D-6E8A-4147-A177-3AD203B41FA5}">
                      <a16:colId xmlns:a16="http://schemas.microsoft.com/office/drawing/2014/main" val="2579494152"/>
                    </a:ext>
                  </a:extLst>
                </a:gridCol>
              </a:tblGrid>
              <a:tr h="29160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Deliverable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Description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Acceptance Criteria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3444001731"/>
                  </a:ext>
                </a:extLst>
              </a:tr>
              <a:tr h="11529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CCO Release 2.1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2.1 release of CCO reflecting prioritized fixes, corrections, and updates identified during transition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Release published with version tag, release notes, and reproducible build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1219783654"/>
                  </a:ext>
                </a:extLst>
              </a:tr>
              <a:tr h="11529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1A-2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Issue Tracker Triage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Systematic review of existing GitHub issues, including resolution, deferral, or closure with rationale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≥70–80% of legacy issues resolved or dispositioned; labels standardized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3055576818"/>
                  </a:ext>
                </a:extLst>
              </a:tr>
              <a:tr h="9223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1A-3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Public Project Board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GitHub Projects board tracking milestones, issues, and releases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Board publicly accessible and updated weekly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310596650"/>
                  </a:ext>
                </a:extLst>
              </a:tr>
              <a:tr h="138351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1A-4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Domain Extension 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At least one domain-specific extension module scoped, implemented, and integrated with core CCO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Module versioned, documented, and released alongside CCO 2.1 and QC-covered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1693925947"/>
                  </a:ext>
                </a:extLst>
              </a:tr>
              <a:tr h="11529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1A-5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Biweekly Office Hours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Regular stakeholder support sessions addressing modeling, usage, and transition questions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Sessions held; questions documented and summarized, hosted on website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1654838932"/>
                  </a:ext>
                </a:extLst>
              </a:tr>
              <a:tr h="80177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1A-6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QC Automation Baseline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Initial CI/CD pipeline implementing automated ontology quality checks (OWL, SHACL, SPARQL, etc.)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Automated checks run on PRs and main branch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3056056613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58D4CF96-FAF2-2F46-C342-1690F79DDE6E}"/>
              </a:ext>
            </a:extLst>
          </p:cNvPr>
          <p:cNvSpPr/>
          <p:nvPr/>
        </p:nvSpPr>
        <p:spPr>
          <a:xfrm>
            <a:off x="444500" y="2540000"/>
            <a:ext cx="2209800" cy="431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11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45742-287B-FB1E-3811-B9D211413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CCO Project 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D66968-5461-2A54-1975-4C5C697720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3542"/>
          <a:stretch>
            <a:fillRect/>
          </a:stretch>
        </p:blipFill>
        <p:spPr>
          <a:xfrm>
            <a:off x="497871" y="1460500"/>
            <a:ext cx="11198829" cy="48343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6048F8-34CA-A963-940C-D44E91D2C3D6}"/>
              </a:ext>
            </a:extLst>
          </p:cNvPr>
          <p:cNvSpPr txBox="1"/>
          <p:nvPr/>
        </p:nvSpPr>
        <p:spPr>
          <a:xfrm>
            <a:off x="2965450" y="6397109"/>
            <a:ext cx="6261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Garamond" panose="02020404030301010803" pitchFamily="18" charset="0"/>
                <a:hlinkClick r:id="rId3"/>
              </a:rPr>
              <a:t>https://github.com/orgs/CommonCoreOntology/projects/1</a:t>
            </a:r>
            <a:r>
              <a:rPr lang="en-US" b="1"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516523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01BEC-135F-4751-ABDB-90835698F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6ADE241-5E27-E7E7-E450-F7786B741561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68580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34181">
                  <a:extLst>
                    <a:ext uri="{9D8B030D-6E8A-4147-A177-3AD203B41FA5}">
                      <a16:colId xmlns:a16="http://schemas.microsoft.com/office/drawing/2014/main" val="850963920"/>
                    </a:ext>
                  </a:extLst>
                </a:gridCol>
                <a:gridCol w="2064774">
                  <a:extLst>
                    <a:ext uri="{9D8B030D-6E8A-4147-A177-3AD203B41FA5}">
                      <a16:colId xmlns:a16="http://schemas.microsoft.com/office/drawing/2014/main" val="4078239696"/>
                    </a:ext>
                  </a:extLst>
                </a:gridCol>
                <a:gridCol w="5088193">
                  <a:extLst>
                    <a:ext uri="{9D8B030D-6E8A-4147-A177-3AD203B41FA5}">
                      <a16:colId xmlns:a16="http://schemas.microsoft.com/office/drawing/2014/main" val="3785857815"/>
                    </a:ext>
                  </a:extLst>
                </a:gridCol>
                <a:gridCol w="4404852">
                  <a:extLst>
                    <a:ext uri="{9D8B030D-6E8A-4147-A177-3AD203B41FA5}">
                      <a16:colId xmlns:a16="http://schemas.microsoft.com/office/drawing/2014/main" val="2579494152"/>
                    </a:ext>
                  </a:extLst>
                </a:gridCol>
              </a:tblGrid>
              <a:tr h="29160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Deliverable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Description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Acceptance Criteria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3444001731"/>
                  </a:ext>
                </a:extLst>
              </a:tr>
              <a:tr h="11529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CCO Release 2.1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2.1 release of CCO reflecting prioritized fixes, corrections, and updates identified during transition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Release published with version tag, release notes, and reproducible build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1219783654"/>
                  </a:ext>
                </a:extLst>
              </a:tr>
              <a:tr h="11529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1A-2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Issue Tracker Triage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Systematic review of existing GitHub issues, including resolution, deferral, or closure with rationale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≥70–80% of legacy issues resolved or dispositioned; labels standardized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3055576818"/>
                  </a:ext>
                </a:extLst>
              </a:tr>
              <a:tr h="9223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1A-3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Public Project Board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GitHub Projects board tracking milestones, issues, and releases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Board publicly accessible and updated weekly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310596650"/>
                  </a:ext>
                </a:extLst>
              </a:tr>
              <a:tr h="138351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1A-4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Domain Extension 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At least one domain-specific extension module scoped, implemented, and integrated with core CCO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Module versioned, documented, and released alongside CCO 2.1 and QC-covered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1693925947"/>
                  </a:ext>
                </a:extLst>
              </a:tr>
              <a:tr h="11529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1A-5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Biweekly Office Hours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Regular stakeholder support sessions addressing modeling, usage, and transition questions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Sessions held; questions documented and summarized, hosted on website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1654838932"/>
                  </a:ext>
                </a:extLst>
              </a:tr>
              <a:tr h="80177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1A-6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QC Automation Baseline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Initial CI/CD pipeline implementing automated ontology quality checks (OWL, SHACL, SPARQL, etc.)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Automated checks run on PRs and main branch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3056056613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2958AFA0-88F0-905C-120D-EC4EF2CF5943}"/>
              </a:ext>
            </a:extLst>
          </p:cNvPr>
          <p:cNvSpPr/>
          <p:nvPr/>
        </p:nvSpPr>
        <p:spPr>
          <a:xfrm>
            <a:off x="406400" y="3429000"/>
            <a:ext cx="2209800" cy="431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9304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0B566-9E2D-1F23-292C-C5CFCA30C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Domain Extension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BA6295-6D42-352A-C7B1-BDD469057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192" y="2042984"/>
            <a:ext cx="5274808" cy="37228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8A38D5-6485-BE9B-FE55-F250C4E2E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2177810"/>
            <a:ext cx="6540500" cy="34038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250837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FCE7F-E324-2EE1-4865-DB16C6FEA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C5A3D-2E9A-17C8-F992-5296CFF8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Domain Extension(s)</a:t>
            </a:r>
          </a:p>
        </p:txBody>
      </p:sp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5662F871-EE25-69A1-C5A9-43BB02A157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5797" y="2490788"/>
            <a:ext cx="11320406" cy="24622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5B3D98-F418-E384-2269-20D7C8602CE7}"/>
              </a:ext>
            </a:extLst>
          </p:cNvPr>
          <p:cNvSpPr txBox="1"/>
          <p:nvPr/>
        </p:nvSpPr>
        <p:spPr>
          <a:xfrm>
            <a:off x="869950" y="5849034"/>
            <a:ext cx="10452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Garamond" panose="02020404030301010803" pitchFamily="18" charset="0"/>
                <a:hlinkClick r:id="rId3"/>
              </a:rPr>
              <a:t>https://github.com/CommonCoreOntology/CommonCoreOntologies/tree/develop/src/cco-extensions</a:t>
            </a:r>
            <a:r>
              <a:rPr lang="en-US" b="1"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44156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E5A50-1690-6F63-2157-EAA77C5D1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60DE1A7-724A-34F5-A231-5BEC8DFDB496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68580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34181">
                  <a:extLst>
                    <a:ext uri="{9D8B030D-6E8A-4147-A177-3AD203B41FA5}">
                      <a16:colId xmlns:a16="http://schemas.microsoft.com/office/drawing/2014/main" val="850963920"/>
                    </a:ext>
                  </a:extLst>
                </a:gridCol>
                <a:gridCol w="2064774">
                  <a:extLst>
                    <a:ext uri="{9D8B030D-6E8A-4147-A177-3AD203B41FA5}">
                      <a16:colId xmlns:a16="http://schemas.microsoft.com/office/drawing/2014/main" val="4078239696"/>
                    </a:ext>
                  </a:extLst>
                </a:gridCol>
                <a:gridCol w="5088193">
                  <a:extLst>
                    <a:ext uri="{9D8B030D-6E8A-4147-A177-3AD203B41FA5}">
                      <a16:colId xmlns:a16="http://schemas.microsoft.com/office/drawing/2014/main" val="3785857815"/>
                    </a:ext>
                  </a:extLst>
                </a:gridCol>
                <a:gridCol w="4404852">
                  <a:extLst>
                    <a:ext uri="{9D8B030D-6E8A-4147-A177-3AD203B41FA5}">
                      <a16:colId xmlns:a16="http://schemas.microsoft.com/office/drawing/2014/main" val="2579494152"/>
                    </a:ext>
                  </a:extLst>
                </a:gridCol>
              </a:tblGrid>
              <a:tr h="29160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Deliverable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Description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Acceptance Criteria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3444001731"/>
                  </a:ext>
                </a:extLst>
              </a:tr>
              <a:tr h="11529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CCO Release 2.1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2.1 release of CCO reflecting prioritized fixes, corrections, and updates identified during transition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Release published with version tag, release notes, and reproducible build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1219783654"/>
                  </a:ext>
                </a:extLst>
              </a:tr>
              <a:tr h="11529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1A-2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Issue Tracker Triage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Systematic review of existing GitHub issues, including resolution, deferral, or closure with rationale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≥70–80% of legacy issues resolved or dispositioned; labels standardized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3055576818"/>
                  </a:ext>
                </a:extLst>
              </a:tr>
              <a:tr h="9223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1A-3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Public Project Board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GitHub Projects board tracking milestones, issues, and releases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Board publicly accessible and updated weekly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310596650"/>
                  </a:ext>
                </a:extLst>
              </a:tr>
              <a:tr h="138351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1A-4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Domain Extension 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At least one domain-specific extension module scoped, implemented, and integrated with core CCO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Module versioned, documented, and released alongside CCO 2.1 and QC-covered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1693925947"/>
                  </a:ext>
                </a:extLst>
              </a:tr>
              <a:tr h="11529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1A-5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Biweekly Office Hours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Regular stakeholder support sessions addressing modeling, usage, and transition questions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Sessions held; questions documented and summarized, hosted on website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1654838932"/>
                  </a:ext>
                </a:extLst>
              </a:tr>
              <a:tr h="80177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1A-6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QC Automation Baseline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Initial CI/CD pipeline implementing automated ontology quality checks (OWL, SHACL, SPARQL, etc.)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Automated checks run on PRs and main branch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3056056613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B2ADFAFB-66A7-EFC0-C319-762E33E4B2B3}"/>
              </a:ext>
            </a:extLst>
          </p:cNvPr>
          <p:cNvSpPr/>
          <p:nvPr/>
        </p:nvSpPr>
        <p:spPr>
          <a:xfrm>
            <a:off x="381000" y="4813300"/>
            <a:ext cx="1930400" cy="7366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4950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97881-A87A-A571-0ECD-33C598993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8F482F3-98A4-0B03-3853-73DE6D8D0E3C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68580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34181">
                  <a:extLst>
                    <a:ext uri="{9D8B030D-6E8A-4147-A177-3AD203B41FA5}">
                      <a16:colId xmlns:a16="http://schemas.microsoft.com/office/drawing/2014/main" val="850963920"/>
                    </a:ext>
                  </a:extLst>
                </a:gridCol>
                <a:gridCol w="2064774">
                  <a:extLst>
                    <a:ext uri="{9D8B030D-6E8A-4147-A177-3AD203B41FA5}">
                      <a16:colId xmlns:a16="http://schemas.microsoft.com/office/drawing/2014/main" val="4078239696"/>
                    </a:ext>
                  </a:extLst>
                </a:gridCol>
                <a:gridCol w="5088193">
                  <a:extLst>
                    <a:ext uri="{9D8B030D-6E8A-4147-A177-3AD203B41FA5}">
                      <a16:colId xmlns:a16="http://schemas.microsoft.com/office/drawing/2014/main" val="3785857815"/>
                    </a:ext>
                  </a:extLst>
                </a:gridCol>
                <a:gridCol w="4404852">
                  <a:extLst>
                    <a:ext uri="{9D8B030D-6E8A-4147-A177-3AD203B41FA5}">
                      <a16:colId xmlns:a16="http://schemas.microsoft.com/office/drawing/2014/main" val="2579494152"/>
                    </a:ext>
                  </a:extLst>
                </a:gridCol>
              </a:tblGrid>
              <a:tr h="29160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Deliverable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Description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Acceptance Criteria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3444001731"/>
                  </a:ext>
                </a:extLst>
              </a:tr>
              <a:tr h="11529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CCO Release 2.1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2.1 release of CCO reflecting prioritized fixes, corrections, and updates identified during transition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Release published with version tag, release notes, and reproducible build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1219783654"/>
                  </a:ext>
                </a:extLst>
              </a:tr>
              <a:tr h="11529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1A-2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Issue Tracker Triage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Systematic review of existing GitHub issues, including resolution, deferral, or closure with rationale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≥70–80% of legacy issues resolved or dispositioned; labels standardized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3055576818"/>
                  </a:ext>
                </a:extLst>
              </a:tr>
              <a:tr h="9223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1A-3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Public Project Board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GitHub Projects board tracking milestones, issues, and releases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Board publicly accessible and updated weekly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310596650"/>
                  </a:ext>
                </a:extLst>
              </a:tr>
              <a:tr h="138351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1A-4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Domain Extension 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At least one domain-specific extension module scoped, implemented, and integrated with core CCO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Module versioned, documented, and released alongside CCO 2.1 and QC-covered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1693925947"/>
                  </a:ext>
                </a:extLst>
              </a:tr>
              <a:tr h="11529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1A-5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Biweekly Office Hours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Regular stakeholder support sessions addressing modeling, usage, and transition questions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Sessions held; questions documented and summarized, hosted on website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1654838932"/>
                  </a:ext>
                </a:extLst>
              </a:tr>
              <a:tr h="80177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1A-6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QC Automation Baseline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Initial CI/CD pipeline implementing automated ontology quality checks (OWL, SHACL, SPARQL, etc.)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Automated checks run on PRs and main branch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397" marR="20397" marT="0" marB="0"/>
                </a:tc>
                <a:extLst>
                  <a:ext uri="{0D108BD9-81ED-4DB2-BD59-A6C34878D82A}">
                    <a16:rowId xmlns:a16="http://schemas.microsoft.com/office/drawing/2014/main" val="3056056613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710EADA6-2A56-6F19-9FED-FDC86CB04EFC}"/>
              </a:ext>
            </a:extLst>
          </p:cNvPr>
          <p:cNvSpPr/>
          <p:nvPr/>
        </p:nvSpPr>
        <p:spPr>
          <a:xfrm>
            <a:off x="254000" y="6019800"/>
            <a:ext cx="2209800" cy="685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239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01380-D610-B0F7-C06C-E8EDCBC48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progress on a white background&#10;&#10;AI-generated content may be incorrect.">
            <a:extLst>
              <a:ext uri="{FF2B5EF4-FFF2-40B4-BE49-F238E27FC236}">
                <a16:creationId xmlns:a16="http://schemas.microsoft.com/office/drawing/2014/main" id="{4D3FE64C-32C2-3DCF-F41C-D3AEAD5839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580" y="82458"/>
            <a:ext cx="8986840" cy="66930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Graphic 2" descr="Checkmark with solid fill">
            <a:extLst>
              <a:ext uri="{FF2B5EF4-FFF2-40B4-BE49-F238E27FC236}">
                <a16:creationId xmlns:a16="http://schemas.microsoft.com/office/drawing/2014/main" id="{5D1EFF08-F129-E8FC-CB89-3A115AAA07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497" y="67348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2178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4BFBF-92C9-DB79-F263-6ABED4C5A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2E228-AD67-A2FE-2DC1-222B32AB7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A3B4D-BB6E-3ED3-6EC0-0AEA4CAD2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CCO Governance Board &amp; NCOR</a:t>
            </a:r>
          </a:p>
          <a:p>
            <a:endParaRPr lang="en-US"/>
          </a:p>
          <a:p>
            <a:r>
              <a:rPr lang="en-US"/>
              <a:t>CCO Modernization Effort</a:t>
            </a:r>
          </a:p>
          <a:p>
            <a:endParaRPr lang="en-US"/>
          </a:p>
          <a:p>
            <a:r>
              <a:rPr lang="en-US">
                <a:solidFill>
                  <a:srgbClr val="FF0000"/>
                </a:solidFill>
              </a:rPr>
              <a:t>CCO Future Release Strategy 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8506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F948E-B186-2A10-8114-7843221BF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progress on a white background&#10;&#10;AI-generated content may be incorrect.">
            <a:extLst>
              <a:ext uri="{FF2B5EF4-FFF2-40B4-BE49-F238E27FC236}">
                <a16:creationId xmlns:a16="http://schemas.microsoft.com/office/drawing/2014/main" id="{821AAA4D-20B3-D976-395C-C39AF6972D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580" y="82458"/>
            <a:ext cx="8986840" cy="66930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F7969059-0BFE-7410-E798-7A352865FB8F}"/>
              </a:ext>
            </a:extLst>
          </p:cNvPr>
          <p:cNvSpPr/>
          <p:nvPr/>
        </p:nvSpPr>
        <p:spPr>
          <a:xfrm>
            <a:off x="3568700" y="1574800"/>
            <a:ext cx="1739900" cy="11684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9956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B3A05-1725-1290-AB2D-6D5F14FB0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progress on a white background&#10;&#10;AI-generated content may be incorrect.">
            <a:extLst>
              <a:ext uri="{FF2B5EF4-FFF2-40B4-BE49-F238E27FC236}">
                <a16:creationId xmlns:a16="http://schemas.microsoft.com/office/drawing/2014/main" id="{8D77D9EA-AA5A-06B9-CDAE-17F517DA6E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580" y="82458"/>
            <a:ext cx="8986840" cy="66930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50949239-154D-CE8C-6C41-F8D9B3A019FF}"/>
              </a:ext>
            </a:extLst>
          </p:cNvPr>
          <p:cNvSpPr/>
          <p:nvPr/>
        </p:nvSpPr>
        <p:spPr>
          <a:xfrm>
            <a:off x="3568700" y="1574800"/>
            <a:ext cx="1739900" cy="11684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74A893ED-54A7-E615-E3D4-617C7FF6291F}"/>
              </a:ext>
            </a:extLst>
          </p:cNvPr>
          <p:cNvSpPr/>
          <p:nvPr/>
        </p:nvSpPr>
        <p:spPr>
          <a:xfrm>
            <a:off x="558800" y="1924050"/>
            <a:ext cx="2870200" cy="46990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957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5CEC60-4791-249C-3DC6-6D8921463C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562012"/>
              </p:ext>
            </p:extLst>
          </p:nvPr>
        </p:nvGraphicFramePr>
        <p:xfrm>
          <a:off x="0" y="0"/>
          <a:ext cx="12191999" cy="68580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8110">
                  <a:extLst>
                    <a:ext uri="{9D8B030D-6E8A-4147-A177-3AD203B41FA5}">
                      <a16:colId xmlns:a16="http://schemas.microsoft.com/office/drawing/2014/main" val="4092014516"/>
                    </a:ext>
                  </a:extLst>
                </a:gridCol>
                <a:gridCol w="2412039">
                  <a:extLst>
                    <a:ext uri="{9D8B030D-6E8A-4147-A177-3AD203B41FA5}">
                      <a16:colId xmlns:a16="http://schemas.microsoft.com/office/drawing/2014/main" val="3275740537"/>
                    </a:ext>
                  </a:extLst>
                </a:gridCol>
                <a:gridCol w="4679092">
                  <a:extLst>
                    <a:ext uri="{9D8B030D-6E8A-4147-A177-3AD203B41FA5}">
                      <a16:colId xmlns:a16="http://schemas.microsoft.com/office/drawing/2014/main" val="1909451218"/>
                    </a:ext>
                  </a:extLst>
                </a:gridCol>
                <a:gridCol w="4362758">
                  <a:extLst>
                    <a:ext uri="{9D8B030D-6E8A-4147-A177-3AD203B41FA5}">
                      <a16:colId xmlns:a16="http://schemas.microsoft.com/office/drawing/2014/main" val="1258092277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Deliverable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Description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Acceptance Criteria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extLst>
                  <a:ext uri="{0D108BD9-81ED-4DB2-BD59-A6C34878D82A}">
                    <a16:rowId xmlns:a16="http://schemas.microsoft.com/office/drawing/2014/main" val="289790121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1B-1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CCO Release 2.2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Refined release incorporating feedback from Phase 1A and remaining transition fixes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Release tagged; change log finalized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extLst>
                  <a:ext uri="{0D108BD9-81ED-4DB2-BD59-A6C34878D82A}">
                    <a16:rowId xmlns:a16="http://schemas.microsoft.com/office/drawing/2014/main" val="386727419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1B-2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Revised Core Modeling Decisions Document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Explicit documentation of key modeling choices and constraints, e.g. design patterns and explanations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Published in repo and website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extLst>
                  <a:ext uri="{0D108BD9-81ED-4DB2-BD59-A6C34878D82A}">
                    <a16:rowId xmlns:a16="http://schemas.microsoft.com/office/drawing/2014/main" val="952877059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1B-3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Domain Extension 2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Second domain module generated; maintenance for domain extension 1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Versioned, documented, and QC-covered and QC-covered for domain extensions 1-2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extLst>
                  <a:ext uri="{0D108BD9-81ED-4DB2-BD59-A6C34878D82A}">
                    <a16:rowId xmlns:a16="http://schemas.microsoft.com/office/drawing/2014/main" val="3679647775"/>
                  </a:ext>
                </a:extLst>
              </a:tr>
              <a:tr h="142875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1B-4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NSOF Governance Alignment Plan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Document describing how CCO aligns with and can inform NSOF governance, releases, and contribution processes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Approved internally and shared with NSOF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extLst>
                  <a:ext uri="{0D108BD9-81ED-4DB2-BD59-A6C34878D82A}">
                    <a16:rowId xmlns:a16="http://schemas.microsoft.com/office/drawing/2014/main" val="1056054545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1B-5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QC Expansion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Expanded automated checks covering CCO and modules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≥75% coverage of CCO 2.2 and module content, with QCs running in CI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extLst>
                  <a:ext uri="{0D108BD9-81ED-4DB2-BD59-A6C34878D82A}">
                    <a16:rowId xmlns:a16="http://schemas.microsoft.com/office/drawing/2014/main" val="2563172074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1B-6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Biweekly Office Hours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Regular stakeholder support sessions addressing modeling, usage, and transition questions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Sessions held; questions documented and summarized, hosted on website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extLst>
                  <a:ext uri="{0D108BD9-81ED-4DB2-BD59-A6C34878D82A}">
                    <a16:rowId xmlns:a16="http://schemas.microsoft.com/office/drawing/2014/main" val="216006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70818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6D38E-591A-662F-DFC8-9CAC50D10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2E491A-4E7A-D9A2-4637-D7D2DCF176F0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1999" cy="68580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8110">
                  <a:extLst>
                    <a:ext uri="{9D8B030D-6E8A-4147-A177-3AD203B41FA5}">
                      <a16:colId xmlns:a16="http://schemas.microsoft.com/office/drawing/2014/main" val="4092014516"/>
                    </a:ext>
                  </a:extLst>
                </a:gridCol>
                <a:gridCol w="2412039">
                  <a:extLst>
                    <a:ext uri="{9D8B030D-6E8A-4147-A177-3AD203B41FA5}">
                      <a16:colId xmlns:a16="http://schemas.microsoft.com/office/drawing/2014/main" val="3275740537"/>
                    </a:ext>
                  </a:extLst>
                </a:gridCol>
                <a:gridCol w="4679092">
                  <a:extLst>
                    <a:ext uri="{9D8B030D-6E8A-4147-A177-3AD203B41FA5}">
                      <a16:colId xmlns:a16="http://schemas.microsoft.com/office/drawing/2014/main" val="1909451218"/>
                    </a:ext>
                  </a:extLst>
                </a:gridCol>
                <a:gridCol w="4362758">
                  <a:extLst>
                    <a:ext uri="{9D8B030D-6E8A-4147-A177-3AD203B41FA5}">
                      <a16:colId xmlns:a16="http://schemas.microsoft.com/office/drawing/2014/main" val="1258092277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Deliverable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Description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Acceptance Criteria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extLst>
                  <a:ext uri="{0D108BD9-81ED-4DB2-BD59-A6C34878D82A}">
                    <a16:rowId xmlns:a16="http://schemas.microsoft.com/office/drawing/2014/main" val="289790121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1B-1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CCO Release 2.2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Refined release incorporating feedback from Phase 1A and remaining transition fixes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Release tagged; change log finalized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extLst>
                  <a:ext uri="{0D108BD9-81ED-4DB2-BD59-A6C34878D82A}">
                    <a16:rowId xmlns:a16="http://schemas.microsoft.com/office/drawing/2014/main" val="386727419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1B-2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Revised Core Modeling Decisions Document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Explicit documentation of key modeling choices and constraints, e.g. design patterns and explanations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Published in repo and website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extLst>
                  <a:ext uri="{0D108BD9-81ED-4DB2-BD59-A6C34878D82A}">
                    <a16:rowId xmlns:a16="http://schemas.microsoft.com/office/drawing/2014/main" val="952877059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1B-3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Domain Extension 2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Second domain module generated; maintenance for domain extension 1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Versioned, documented, and QC-covered and QC-covered for domain extensions 1-2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extLst>
                  <a:ext uri="{0D108BD9-81ED-4DB2-BD59-A6C34878D82A}">
                    <a16:rowId xmlns:a16="http://schemas.microsoft.com/office/drawing/2014/main" val="3679647775"/>
                  </a:ext>
                </a:extLst>
              </a:tr>
              <a:tr h="142875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1B-4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NSOF Governance Alignment Plan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Document describing how CCO aligns with and can inform NSOF governance, releases, and contribution processes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Approved internally and shared with NSOF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extLst>
                  <a:ext uri="{0D108BD9-81ED-4DB2-BD59-A6C34878D82A}">
                    <a16:rowId xmlns:a16="http://schemas.microsoft.com/office/drawing/2014/main" val="1056054545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1B-5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QC Expansion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Expanded automated checks covering CCO and modules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≥75% coverage of CCO 2.2 and module content, with QCs running in CI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extLst>
                  <a:ext uri="{0D108BD9-81ED-4DB2-BD59-A6C34878D82A}">
                    <a16:rowId xmlns:a16="http://schemas.microsoft.com/office/drawing/2014/main" val="2563172074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1B-6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Biweekly Office Hours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Regular stakeholder support sessions addressing modeling, usage, and transition questions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Sessions held; questions documented and summarized, hosted on website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extLst>
                  <a:ext uri="{0D108BD9-81ED-4DB2-BD59-A6C34878D82A}">
                    <a16:rowId xmlns:a16="http://schemas.microsoft.com/office/drawing/2014/main" val="216006640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917F86C7-44F7-EBA8-D8F3-A18A159686BB}"/>
              </a:ext>
            </a:extLst>
          </p:cNvPr>
          <p:cNvSpPr/>
          <p:nvPr/>
        </p:nvSpPr>
        <p:spPr>
          <a:xfrm>
            <a:off x="711200" y="203200"/>
            <a:ext cx="1727200" cy="4699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84856A-AC7D-63E6-AAAB-D38205B0EFD1}"/>
              </a:ext>
            </a:extLst>
          </p:cNvPr>
          <p:cNvSpPr txBox="1"/>
          <p:nvPr/>
        </p:nvSpPr>
        <p:spPr>
          <a:xfrm>
            <a:off x="787565" y="691634"/>
            <a:ext cx="1574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  <a:latin typeface="Garamond" panose="02020404030301010803" pitchFamily="18" charset="0"/>
              </a:rPr>
              <a:t>JUNE 30 2026</a:t>
            </a:r>
          </a:p>
        </p:txBody>
      </p:sp>
    </p:spTree>
    <p:extLst>
      <p:ext uri="{BB962C8B-B14F-4D97-AF65-F5344CB8AC3E}">
        <p14:creationId xmlns:p14="http://schemas.microsoft.com/office/powerpoint/2010/main" val="41004891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5CA7D-1CDA-0301-3C7E-3F033622C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Releases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9341B-9462-B021-FFA0-5EC3E95FF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For forthcoming releases NCOR will:</a:t>
            </a:r>
          </a:p>
          <a:p>
            <a:endParaRPr lang="en-US"/>
          </a:p>
          <a:p>
            <a:pPr lvl="1"/>
            <a:r>
              <a:rPr lang="en-US" sz="2800"/>
              <a:t>Align more closely with the CCO Developer Group </a:t>
            </a:r>
          </a:p>
          <a:p>
            <a:pPr lvl="1"/>
            <a:r>
              <a:rPr lang="en-US" sz="2800"/>
              <a:t>Post regular reminders about upcoming changes and dates</a:t>
            </a:r>
          </a:p>
          <a:p>
            <a:pPr lvl="1"/>
            <a:r>
              <a:rPr lang="en-US" sz="2800"/>
              <a:t>Approximately one week in advance of a release, create a ‘release branch’ for stakeholder review</a:t>
            </a:r>
          </a:p>
          <a:p>
            <a:pPr lvl="1"/>
            <a:r>
              <a:rPr lang="en-US" sz="2800"/>
              <a:t>Aggressively disseminate information about any perceived breaking changes, as well as remediation strategies</a:t>
            </a:r>
          </a:p>
          <a:p>
            <a:pPr lvl="1"/>
            <a:r>
              <a:rPr lang="en-US" sz="2800"/>
              <a:t>Publish training and implementation documentation in the repo</a:t>
            </a:r>
          </a:p>
        </p:txBody>
      </p:sp>
    </p:spTree>
    <p:extLst>
      <p:ext uri="{BB962C8B-B14F-4D97-AF65-F5344CB8AC3E}">
        <p14:creationId xmlns:p14="http://schemas.microsoft.com/office/powerpoint/2010/main" val="19447170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6E61D-6E8E-F035-21B6-E86942F94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031DDF-406C-EBE1-5512-CB1BB24A8E6B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1999" cy="68580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8110">
                  <a:extLst>
                    <a:ext uri="{9D8B030D-6E8A-4147-A177-3AD203B41FA5}">
                      <a16:colId xmlns:a16="http://schemas.microsoft.com/office/drawing/2014/main" val="4092014516"/>
                    </a:ext>
                  </a:extLst>
                </a:gridCol>
                <a:gridCol w="2412039">
                  <a:extLst>
                    <a:ext uri="{9D8B030D-6E8A-4147-A177-3AD203B41FA5}">
                      <a16:colId xmlns:a16="http://schemas.microsoft.com/office/drawing/2014/main" val="3275740537"/>
                    </a:ext>
                  </a:extLst>
                </a:gridCol>
                <a:gridCol w="4679092">
                  <a:extLst>
                    <a:ext uri="{9D8B030D-6E8A-4147-A177-3AD203B41FA5}">
                      <a16:colId xmlns:a16="http://schemas.microsoft.com/office/drawing/2014/main" val="1909451218"/>
                    </a:ext>
                  </a:extLst>
                </a:gridCol>
                <a:gridCol w="4362758">
                  <a:extLst>
                    <a:ext uri="{9D8B030D-6E8A-4147-A177-3AD203B41FA5}">
                      <a16:colId xmlns:a16="http://schemas.microsoft.com/office/drawing/2014/main" val="1258092277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Deliverable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Description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Acceptance Criteria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extLst>
                  <a:ext uri="{0D108BD9-81ED-4DB2-BD59-A6C34878D82A}">
                    <a16:rowId xmlns:a16="http://schemas.microsoft.com/office/drawing/2014/main" val="289790121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1B-1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CCO Release 2.2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Refined release incorporating feedback from Phase 1A and remaining transition fixes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Release tagged; change log finalized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extLst>
                  <a:ext uri="{0D108BD9-81ED-4DB2-BD59-A6C34878D82A}">
                    <a16:rowId xmlns:a16="http://schemas.microsoft.com/office/drawing/2014/main" val="386727419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1B-2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Revised Core Modeling Decisions Document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Explicit documentation of key modeling choices and constraints, e.g. design patterns and explanations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Published in repo and website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extLst>
                  <a:ext uri="{0D108BD9-81ED-4DB2-BD59-A6C34878D82A}">
                    <a16:rowId xmlns:a16="http://schemas.microsoft.com/office/drawing/2014/main" val="952877059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1B-3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Domain Extension 2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Second domain module generated; maintenance for domain extension 1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Versioned, documented, and QC-covered and QC-covered for domain extensions 1-2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extLst>
                  <a:ext uri="{0D108BD9-81ED-4DB2-BD59-A6C34878D82A}">
                    <a16:rowId xmlns:a16="http://schemas.microsoft.com/office/drawing/2014/main" val="3679647775"/>
                  </a:ext>
                </a:extLst>
              </a:tr>
              <a:tr h="142875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1B-4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NSOF Governance Alignment Plan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Document describing how CCO aligns with and can inform NSOF governance, releases, and contribution processes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Approved internally and shared with NSOF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extLst>
                  <a:ext uri="{0D108BD9-81ED-4DB2-BD59-A6C34878D82A}">
                    <a16:rowId xmlns:a16="http://schemas.microsoft.com/office/drawing/2014/main" val="1056054545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1B-5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QC Expansion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Expanded automated checks covering CCO and modules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≥75% coverage of CCO 2.2 and module content, with QCs running in CI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extLst>
                  <a:ext uri="{0D108BD9-81ED-4DB2-BD59-A6C34878D82A}">
                    <a16:rowId xmlns:a16="http://schemas.microsoft.com/office/drawing/2014/main" val="2563172074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1B-6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Biweekly Office Hours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Regular stakeholder support sessions addressing modeling, usage, and transition questions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Sessions held; questions documented and summarized, hosted on website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extLst>
                  <a:ext uri="{0D108BD9-81ED-4DB2-BD59-A6C34878D82A}">
                    <a16:rowId xmlns:a16="http://schemas.microsoft.com/office/drawing/2014/main" val="216006640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48A48018-66FD-84ED-772B-B0ED639ABA18}"/>
              </a:ext>
            </a:extLst>
          </p:cNvPr>
          <p:cNvSpPr/>
          <p:nvPr/>
        </p:nvSpPr>
        <p:spPr>
          <a:xfrm>
            <a:off x="685800" y="1066800"/>
            <a:ext cx="2209800" cy="685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6824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7746B9-5B70-C41A-6A5C-2BED487347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1" t="7684" r="1924" b="10579"/>
          <a:stretch>
            <a:fillRect/>
          </a:stretch>
        </p:blipFill>
        <p:spPr>
          <a:xfrm>
            <a:off x="2933700" y="584200"/>
            <a:ext cx="6121400" cy="53110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71B1EB-6699-5F9B-1EA1-D4684ADE6542}"/>
              </a:ext>
            </a:extLst>
          </p:cNvPr>
          <p:cNvSpPr txBox="1"/>
          <p:nvPr/>
        </p:nvSpPr>
        <p:spPr>
          <a:xfrm>
            <a:off x="615950" y="6234668"/>
            <a:ext cx="10960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Garamond" panose="02020404030301010803" pitchFamily="18" charset="0"/>
                <a:hlinkClick r:id="rId3"/>
              </a:rPr>
              <a:t>https://www.utwente.nl/en/eemcs/fois2024/resources/papers/jensen-et-al-the-common-core-ontologies.pdf</a:t>
            </a:r>
            <a:r>
              <a:rPr lang="en-US" b="1"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00132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C9C1E-CAE3-BFE9-7C5B-347A4D15C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022787-30F3-616C-14AB-C6D52C30701B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1999" cy="68580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8110">
                  <a:extLst>
                    <a:ext uri="{9D8B030D-6E8A-4147-A177-3AD203B41FA5}">
                      <a16:colId xmlns:a16="http://schemas.microsoft.com/office/drawing/2014/main" val="4092014516"/>
                    </a:ext>
                  </a:extLst>
                </a:gridCol>
                <a:gridCol w="2412039">
                  <a:extLst>
                    <a:ext uri="{9D8B030D-6E8A-4147-A177-3AD203B41FA5}">
                      <a16:colId xmlns:a16="http://schemas.microsoft.com/office/drawing/2014/main" val="3275740537"/>
                    </a:ext>
                  </a:extLst>
                </a:gridCol>
                <a:gridCol w="4679092">
                  <a:extLst>
                    <a:ext uri="{9D8B030D-6E8A-4147-A177-3AD203B41FA5}">
                      <a16:colId xmlns:a16="http://schemas.microsoft.com/office/drawing/2014/main" val="1909451218"/>
                    </a:ext>
                  </a:extLst>
                </a:gridCol>
                <a:gridCol w="4362758">
                  <a:extLst>
                    <a:ext uri="{9D8B030D-6E8A-4147-A177-3AD203B41FA5}">
                      <a16:colId xmlns:a16="http://schemas.microsoft.com/office/drawing/2014/main" val="1258092277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Deliverable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Description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Acceptance Criteria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extLst>
                  <a:ext uri="{0D108BD9-81ED-4DB2-BD59-A6C34878D82A}">
                    <a16:rowId xmlns:a16="http://schemas.microsoft.com/office/drawing/2014/main" val="289790121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1B-1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CCO Release 2.2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Refined release incorporating feedback from Phase 1A and remaining transition fixes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Release tagged; change log finalized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extLst>
                  <a:ext uri="{0D108BD9-81ED-4DB2-BD59-A6C34878D82A}">
                    <a16:rowId xmlns:a16="http://schemas.microsoft.com/office/drawing/2014/main" val="386727419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1B-2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Revised Core Modeling Decisions Document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Explicit documentation of key modeling choices and constraints, e.g. design patterns and explanations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Published in repo and website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extLst>
                  <a:ext uri="{0D108BD9-81ED-4DB2-BD59-A6C34878D82A}">
                    <a16:rowId xmlns:a16="http://schemas.microsoft.com/office/drawing/2014/main" val="952877059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1B-3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Domain Extension 2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Second domain module generated; maintenance for domain extension 1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Versioned, documented, and QC-covered and QC-covered for domain extensions 1-2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extLst>
                  <a:ext uri="{0D108BD9-81ED-4DB2-BD59-A6C34878D82A}">
                    <a16:rowId xmlns:a16="http://schemas.microsoft.com/office/drawing/2014/main" val="3679647775"/>
                  </a:ext>
                </a:extLst>
              </a:tr>
              <a:tr h="142875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1B-4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NSOF Governance Alignment Plan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Document describing how CCO aligns with and can inform NSOF governance, releases, and contribution processes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Approved internally and shared with NSOF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extLst>
                  <a:ext uri="{0D108BD9-81ED-4DB2-BD59-A6C34878D82A}">
                    <a16:rowId xmlns:a16="http://schemas.microsoft.com/office/drawing/2014/main" val="1056054545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1B-5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QC Expansion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Expanded automated checks covering CCO and modules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≥75% coverage of CCO 2.2 and module content, with QCs running in CI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extLst>
                  <a:ext uri="{0D108BD9-81ED-4DB2-BD59-A6C34878D82A}">
                    <a16:rowId xmlns:a16="http://schemas.microsoft.com/office/drawing/2014/main" val="2563172074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1B-6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Biweekly Office Hours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Regular stakeholder support sessions addressing modeling, usage, and transition questions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Sessions held; questions documented and summarized, hosted on website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197" marR="19197" marT="0" marB="0"/>
                </a:tc>
                <a:extLst>
                  <a:ext uri="{0D108BD9-81ED-4DB2-BD59-A6C34878D82A}">
                    <a16:rowId xmlns:a16="http://schemas.microsoft.com/office/drawing/2014/main" val="216006640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EF07D4F4-677F-E82B-7F4F-BD91671DE572}"/>
              </a:ext>
            </a:extLst>
          </p:cNvPr>
          <p:cNvSpPr/>
          <p:nvPr/>
        </p:nvSpPr>
        <p:spPr>
          <a:xfrm>
            <a:off x="469900" y="3429000"/>
            <a:ext cx="2209800" cy="685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981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8AF05-A6BE-461E-E49F-37C946BB4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progress on a white background&#10;&#10;AI-generated content may be incorrect.">
            <a:extLst>
              <a:ext uri="{FF2B5EF4-FFF2-40B4-BE49-F238E27FC236}">
                <a16:creationId xmlns:a16="http://schemas.microsoft.com/office/drawing/2014/main" id="{A45D9537-42F3-3F48-DFEF-D68B3316DC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580" y="82458"/>
            <a:ext cx="8986840" cy="66930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3802E871-76CC-7FFD-5104-D3DC5D8B42FF}"/>
              </a:ext>
            </a:extLst>
          </p:cNvPr>
          <p:cNvSpPr/>
          <p:nvPr/>
        </p:nvSpPr>
        <p:spPr>
          <a:xfrm>
            <a:off x="4267200" y="2552700"/>
            <a:ext cx="3149600" cy="172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3672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EE3A01-4E29-D296-E542-DFA30E3FE7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944756"/>
              </p:ext>
            </p:extLst>
          </p:nvPr>
        </p:nvGraphicFramePr>
        <p:xfrm>
          <a:off x="0" y="0"/>
          <a:ext cx="12191999" cy="68580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6900">
                  <a:extLst>
                    <a:ext uri="{9D8B030D-6E8A-4147-A177-3AD203B41FA5}">
                      <a16:colId xmlns:a16="http://schemas.microsoft.com/office/drawing/2014/main" val="2599040284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1771684800"/>
                    </a:ext>
                  </a:extLst>
                </a:gridCol>
                <a:gridCol w="5080000">
                  <a:extLst>
                    <a:ext uri="{9D8B030D-6E8A-4147-A177-3AD203B41FA5}">
                      <a16:colId xmlns:a16="http://schemas.microsoft.com/office/drawing/2014/main" val="951364980"/>
                    </a:ext>
                  </a:extLst>
                </a:gridCol>
                <a:gridCol w="4165599">
                  <a:extLst>
                    <a:ext uri="{9D8B030D-6E8A-4147-A177-3AD203B41FA5}">
                      <a16:colId xmlns:a16="http://schemas.microsoft.com/office/drawing/2014/main" val="646555259"/>
                    </a:ext>
                  </a:extLst>
                </a:gridCol>
              </a:tblGrid>
              <a:tr h="34642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Deliverable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Description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Acceptance Criteria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extLst>
                  <a:ext uri="{0D108BD9-81ED-4DB2-BD59-A6C34878D82A}">
                    <a16:rowId xmlns:a16="http://schemas.microsoft.com/office/drawing/2014/main" val="3860164405"/>
                  </a:ext>
                </a:extLst>
              </a:tr>
              <a:tr h="116278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2-1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CCO Release 3.0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First stable release reflecting refined modeling, patterns, and governance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Versioned release with documentation; full formal axiomatizations in OWL, JSON-LD, and CLIF formats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extLst>
                  <a:ext uri="{0D108BD9-81ED-4DB2-BD59-A6C34878D82A}">
                    <a16:rowId xmlns:a16="http://schemas.microsoft.com/office/drawing/2014/main" val="176358071"/>
                  </a:ext>
                </a:extLst>
              </a:tr>
              <a:tr h="69766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2-2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CCO 3.0 Design Pattern Library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Updated, curated design patterns aligned with CCO 3.0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Published in repo and website and referenced in docs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extLst>
                  <a:ext uri="{0D108BD9-81ED-4DB2-BD59-A6C34878D82A}">
                    <a16:rowId xmlns:a16="http://schemas.microsoft.com/office/drawing/2014/main" val="4239598102"/>
                  </a:ext>
                </a:extLst>
              </a:tr>
              <a:tr h="93022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2-3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Domain Extension 3 &amp; 4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Third and fourth domain module generated; maintenance for domain extensions 1 and 2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Versioned, documented, and QC-covered and QC-covered for domain extensions 1-4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extLst>
                  <a:ext uri="{0D108BD9-81ED-4DB2-BD59-A6C34878D82A}">
                    <a16:rowId xmlns:a16="http://schemas.microsoft.com/office/drawing/2014/main" val="266250614"/>
                  </a:ext>
                </a:extLst>
              </a:tr>
              <a:tr h="93022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2-4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IOF Alignment Artifacts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Mapping or alignment documentation between CCO and Industrial Ontology Foundry artifacts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Publicly available mapping artifacts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extLst>
                  <a:ext uri="{0D108BD9-81ED-4DB2-BD59-A6C34878D82A}">
                    <a16:rowId xmlns:a16="http://schemas.microsoft.com/office/drawing/2014/main" val="521074022"/>
                  </a:ext>
                </a:extLst>
              </a:tr>
              <a:tr h="69766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2-5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CCO Video Series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Instructional videos covering CCO fundamentals and updates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At least 5 videos published on CCO YouTube channel, captioned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extLst>
                  <a:ext uri="{0D108BD9-81ED-4DB2-BD59-A6C34878D82A}">
                    <a16:rowId xmlns:a16="http://schemas.microsoft.com/office/drawing/2014/main" val="1952826361"/>
                  </a:ext>
                </a:extLst>
              </a:tr>
              <a:tr h="93022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2-6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Updated CCO Website &amp; Documentation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Existing website updated to training hub portal, access to lectures, quizzes, FAQs, etc.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Website live and maintained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extLst>
                  <a:ext uri="{0D108BD9-81ED-4DB2-BD59-A6C34878D82A}">
                    <a16:rowId xmlns:a16="http://schemas.microsoft.com/office/drawing/2014/main" val="867925141"/>
                  </a:ext>
                </a:extLst>
              </a:tr>
              <a:tr h="116278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2-9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Multilingual Support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Develop a proof-of-concept for multilingual support, focusing on one or two priority languages.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CCO 3.0 overlay file with priority language definitions, labels, alternative labels, and documentation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4569" marR="14569" marT="0" marB="0"/>
                </a:tc>
                <a:extLst>
                  <a:ext uri="{0D108BD9-81ED-4DB2-BD59-A6C34878D82A}">
                    <a16:rowId xmlns:a16="http://schemas.microsoft.com/office/drawing/2014/main" val="29335855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65B29BF-0BA7-1E9E-E337-4595B28E85F7}"/>
              </a:ext>
            </a:extLst>
          </p:cNvPr>
          <p:cNvSpPr txBox="1"/>
          <p:nvPr/>
        </p:nvSpPr>
        <p:spPr>
          <a:xfrm>
            <a:off x="647865" y="755134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  <a:latin typeface="Garamond" panose="02020404030301010803" pitchFamily="18" charset="0"/>
              </a:rPr>
              <a:t>DEC 31 2026</a:t>
            </a:r>
          </a:p>
        </p:txBody>
      </p:sp>
    </p:spTree>
    <p:extLst>
      <p:ext uri="{BB962C8B-B14F-4D97-AF65-F5344CB8AC3E}">
        <p14:creationId xmlns:p14="http://schemas.microsoft.com/office/powerpoint/2010/main" val="31892677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59515-47FE-EB8D-4724-156B005AB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progress on a white background&#10;&#10;AI-generated content may be incorrect.">
            <a:extLst>
              <a:ext uri="{FF2B5EF4-FFF2-40B4-BE49-F238E27FC236}">
                <a16:creationId xmlns:a16="http://schemas.microsoft.com/office/drawing/2014/main" id="{BB384482-55C2-4DDA-C53C-E794C7A5C8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580" y="82458"/>
            <a:ext cx="8986840" cy="66930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B32BFFFA-34A5-A970-4676-B2A618592CBD}"/>
              </a:ext>
            </a:extLst>
          </p:cNvPr>
          <p:cNvSpPr/>
          <p:nvPr/>
        </p:nvSpPr>
        <p:spPr>
          <a:xfrm>
            <a:off x="6273800" y="3975100"/>
            <a:ext cx="2895600" cy="17526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853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4C076F-BF07-21BA-CF99-1DEB1D684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308326"/>
              </p:ext>
            </p:extLst>
          </p:nvPr>
        </p:nvGraphicFramePr>
        <p:xfrm>
          <a:off x="0" y="0"/>
          <a:ext cx="12192000" cy="68580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4974">
                  <a:extLst>
                    <a:ext uri="{9D8B030D-6E8A-4147-A177-3AD203B41FA5}">
                      <a16:colId xmlns:a16="http://schemas.microsoft.com/office/drawing/2014/main" val="1212767391"/>
                    </a:ext>
                  </a:extLst>
                </a:gridCol>
                <a:gridCol w="3401426">
                  <a:extLst>
                    <a:ext uri="{9D8B030D-6E8A-4147-A177-3AD203B41FA5}">
                      <a16:colId xmlns:a16="http://schemas.microsoft.com/office/drawing/2014/main" val="2419992929"/>
                    </a:ext>
                  </a:extLst>
                </a:gridCol>
                <a:gridCol w="4930859">
                  <a:extLst>
                    <a:ext uri="{9D8B030D-6E8A-4147-A177-3AD203B41FA5}">
                      <a16:colId xmlns:a16="http://schemas.microsoft.com/office/drawing/2014/main" val="2543494288"/>
                    </a:ext>
                  </a:extLst>
                </a:gridCol>
                <a:gridCol w="3044741">
                  <a:extLst>
                    <a:ext uri="{9D8B030D-6E8A-4147-A177-3AD203B41FA5}">
                      <a16:colId xmlns:a16="http://schemas.microsoft.com/office/drawing/2014/main" val="2940929567"/>
                    </a:ext>
                  </a:extLst>
                </a:gridCol>
              </a:tblGrid>
              <a:tr h="32913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Deliverable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Description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Acceptance Criteria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extLst>
                  <a:ext uri="{0D108BD9-81ED-4DB2-BD59-A6C34878D82A}">
                    <a16:rowId xmlns:a16="http://schemas.microsoft.com/office/drawing/2014/main" val="1039259641"/>
                  </a:ext>
                </a:extLst>
              </a:tr>
              <a:tr h="49808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3-1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Stable CCO Release 4.0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Stabilized low-volatility release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Release designated as stable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extLst>
                  <a:ext uri="{0D108BD9-81ED-4DB2-BD59-A6C34878D82A}">
                    <a16:rowId xmlns:a16="http://schemas.microsoft.com/office/drawing/2014/main" val="3435958762"/>
                  </a:ext>
                </a:extLst>
              </a:tr>
              <a:tr h="65826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3-2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Complete Design Pattern &amp; Documentation Suite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Finalized modeling guidance for stabilized CCO 4.0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Docs complete and versioned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extLst>
                  <a:ext uri="{0D108BD9-81ED-4DB2-BD59-A6C34878D82A}">
                    <a16:rowId xmlns:a16="http://schemas.microsoft.com/office/drawing/2014/main" val="1528379317"/>
                  </a:ext>
                </a:extLst>
              </a:tr>
              <a:tr h="99616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3-3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Training &amp; Certification Materials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Videos, certification, quizzes, FAQs, and learning materials reflecting CCO 4.0; documented user feedback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Training portal operational and evaluated by users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extLst>
                  <a:ext uri="{0D108BD9-81ED-4DB2-BD59-A6C34878D82A}">
                    <a16:rowId xmlns:a16="http://schemas.microsoft.com/office/drawing/2014/main" val="298528646"/>
                  </a:ext>
                </a:extLst>
              </a:tr>
              <a:tr h="65826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3-4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External Standards Alignments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Alignment with GeoSPARQL, QUDT, Time, NIEM, etc.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Alignment docs published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extLst>
                  <a:ext uri="{0D108BD9-81ED-4DB2-BD59-A6C34878D82A}">
                    <a16:rowId xmlns:a16="http://schemas.microsoft.com/office/drawing/2014/main" val="2099695546"/>
                  </a:ext>
                </a:extLst>
              </a:tr>
              <a:tr h="99616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3-5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Domain Extension 5 &amp; 6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Fifth and sixth domain module generated; maintenance on domain extensions 1-4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Versioned, documented, and QC-covered for domain extensions 1-6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extLst>
                  <a:ext uri="{0D108BD9-81ED-4DB2-BD59-A6C34878D82A}">
                    <a16:rowId xmlns:a16="http://schemas.microsoft.com/office/drawing/2014/main" val="3493603543"/>
                  </a:ext>
                </a:extLst>
              </a:tr>
              <a:tr h="131653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3-7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Multilingual Support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Refine pilot and expand multilingual support, focusing on two additional languages.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CCO 4.0 overlay file with relevant language definitions, labels, alternative labels, and documentation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extLst>
                  <a:ext uri="{0D108BD9-81ED-4DB2-BD59-A6C34878D82A}">
                    <a16:rowId xmlns:a16="http://schemas.microsoft.com/office/drawing/2014/main" val="2290752397"/>
                  </a:ext>
                </a:extLst>
              </a:tr>
              <a:tr h="65826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3-8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DoD/IC Pilot Integration Study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Pilot demonstrating CCO use in ISR or AI/ML pipelines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Study report delivered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extLst>
                  <a:ext uri="{0D108BD9-81ED-4DB2-BD59-A6C34878D82A}">
                    <a16:rowId xmlns:a16="http://schemas.microsoft.com/office/drawing/2014/main" val="378922026"/>
                  </a:ext>
                </a:extLst>
              </a:tr>
              <a:tr h="74712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3-9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Stakeholder Summary &amp; Forward Plan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Report summarizing stabilization and future roadmap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Delivered to sponsors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extLst>
                  <a:ext uri="{0D108BD9-81ED-4DB2-BD59-A6C34878D82A}">
                    <a16:rowId xmlns:a16="http://schemas.microsoft.com/office/drawing/2014/main" val="60086403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1C75BD-89DD-8164-7CAB-22658270C796}"/>
              </a:ext>
            </a:extLst>
          </p:cNvPr>
          <p:cNvSpPr txBox="1"/>
          <p:nvPr/>
        </p:nvSpPr>
        <p:spPr>
          <a:xfrm>
            <a:off x="1155865" y="513834"/>
            <a:ext cx="1574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  <a:latin typeface="Garamond" panose="02020404030301010803" pitchFamily="18" charset="0"/>
              </a:rPr>
              <a:t>JUNE 30 2027</a:t>
            </a:r>
          </a:p>
        </p:txBody>
      </p:sp>
    </p:spTree>
    <p:extLst>
      <p:ext uri="{BB962C8B-B14F-4D97-AF65-F5344CB8AC3E}">
        <p14:creationId xmlns:p14="http://schemas.microsoft.com/office/powerpoint/2010/main" val="27217414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EA7F1-7AA5-CE32-37FB-991EA8C0D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progress on a white background&#10;&#10;AI-generated content may be incorrect.">
            <a:extLst>
              <a:ext uri="{FF2B5EF4-FFF2-40B4-BE49-F238E27FC236}">
                <a16:creationId xmlns:a16="http://schemas.microsoft.com/office/drawing/2014/main" id="{17916819-195D-71FF-5528-11A128B445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580" y="82458"/>
            <a:ext cx="8986840" cy="66930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FEB92AD6-7BC7-E66A-885F-33324FD22848}"/>
              </a:ext>
            </a:extLst>
          </p:cNvPr>
          <p:cNvSpPr/>
          <p:nvPr/>
        </p:nvSpPr>
        <p:spPr>
          <a:xfrm>
            <a:off x="8178800" y="5359400"/>
            <a:ext cx="2590800" cy="1320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819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32883D-E717-A648-3A81-D08936AE9D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5863388"/>
              </p:ext>
            </p:extLst>
          </p:nvPr>
        </p:nvGraphicFramePr>
        <p:xfrm>
          <a:off x="0" y="0"/>
          <a:ext cx="12191999" cy="68579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64688574"/>
                    </a:ext>
                  </a:extLst>
                </a:gridCol>
                <a:gridCol w="1816100">
                  <a:extLst>
                    <a:ext uri="{9D8B030D-6E8A-4147-A177-3AD203B41FA5}">
                      <a16:colId xmlns:a16="http://schemas.microsoft.com/office/drawing/2014/main" val="809525182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759254419"/>
                    </a:ext>
                  </a:extLst>
                </a:gridCol>
                <a:gridCol w="5676899">
                  <a:extLst>
                    <a:ext uri="{9D8B030D-6E8A-4147-A177-3AD203B41FA5}">
                      <a16:colId xmlns:a16="http://schemas.microsoft.com/office/drawing/2014/main" val="3177916744"/>
                    </a:ext>
                  </a:extLst>
                </a:gridCol>
              </a:tblGrid>
              <a:tr h="31652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ID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Deliverable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Description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Acceptance Criteria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extLst>
                  <a:ext uri="{0D108BD9-81ED-4DB2-BD59-A6C34878D82A}">
                    <a16:rowId xmlns:a16="http://schemas.microsoft.com/office/drawing/2014/main" val="3660996006"/>
                  </a:ext>
                </a:extLst>
              </a:tr>
              <a:tr h="63304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N-1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Maintenance Release(s)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Minor updates, fixes, and improvements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Releases published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extLst>
                  <a:ext uri="{0D108BD9-81ED-4DB2-BD59-A6C34878D82A}">
                    <a16:rowId xmlns:a16="http://schemas.microsoft.com/office/drawing/2014/main" val="1000009853"/>
                  </a:ext>
                </a:extLst>
              </a:tr>
              <a:tr h="65942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N-2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Domain Extension 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New domain modules generated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Versioned, documented, and QC-covered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extLst>
                  <a:ext uri="{0D108BD9-81ED-4DB2-BD59-A6C34878D82A}">
                    <a16:rowId xmlns:a16="http://schemas.microsoft.com/office/drawing/2014/main" val="1769113031"/>
                  </a:ext>
                </a:extLst>
              </a:tr>
              <a:tr h="122464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N-3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Expanded QC Coverage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QC automation extended to new domains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CI coverage increased across new and updated domain module extensions of CCO 4.0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extLst>
                  <a:ext uri="{0D108BD9-81ED-4DB2-BD59-A6C34878D82A}">
                    <a16:rowId xmlns:a16="http://schemas.microsoft.com/office/drawing/2014/main" val="4287420923"/>
                  </a:ext>
                </a:extLst>
              </a:tr>
              <a:tr h="141305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N-4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Multilingual Expansion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Additional languages supported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New language annotations stored in respective overlay files based on CCO 4.0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extLst>
                  <a:ext uri="{0D108BD9-81ED-4DB2-BD59-A6C34878D82A}">
                    <a16:rowId xmlns:a16="http://schemas.microsoft.com/office/drawing/2014/main" val="1637770818"/>
                  </a:ext>
                </a:extLst>
              </a:tr>
              <a:tr h="65942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N-5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User Support &amp; Office Hours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Continued engagement and support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SLAs met (responses within 72 hours)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extLst>
                  <a:ext uri="{0D108BD9-81ED-4DB2-BD59-A6C34878D82A}">
                    <a16:rowId xmlns:a16="http://schemas.microsoft.com/office/drawing/2014/main" val="249568921"/>
                  </a:ext>
                </a:extLst>
              </a:tr>
              <a:tr h="63304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N-6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Metrics &amp; Activity Report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Usage, adoption, and repo analytics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Report delivered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extLst>
                  <a:ext uri="{0D108BD9-81ED-4DB2-BD59-A6C34878D82A}">
                    <a16:rowId xmlns:a16="http://schemas.microsoft.com/office/drawing/2014/main" val="4134090522"/>
                  </a:ext>
                </a:extLst>
              </a:tr>
              <a:tr h="131884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N-8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Publications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Continued dissemination of CCO 4.0 and domain extension features, applications, and use cases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100">
                          <a:effectLst/>
                          <a:latin typeface="Garamond" panose="02020404030301010803" pitchFamily="18" charset="0"/>
                        </a:rPr>
                        <a:t>Journal publications, proceedings, white papers, presentations, briefs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426" marR="19426" marT="0" marB="0"/>
                </a:tc>
                <a:extLst>
                  <a:ext uri="{0D108BD9-81ED-4DB2-BD59-A6C34878D82A}">
                    <a16:rowId xmlns:a16="http://schemas.microsoft.com/office/drawing/2014/main" val="40246984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64486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DBC32-BDC6-A970-5FF4-1AB5CF6EA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to Tell Your Sponsors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A2669-9154-73F2-B75A-238AF61C9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36682"/>
          </a:xfrm>
        </p:spPr>
        <p:txBody>
          <a:bodyPr/>
          <a:lstStyle/>
          <a:p>
            <a:r>
              <a:rPr lang="en-US"/>
              <a:t>Cleanup of artifacts and documentation underway, will be completed </a:t>
            </a:r>
            <a:r>
              <a:rPr lang="en-US" b="1">
                <a:solidFill>
                  <a:srgbClr val="FF0000"/>
                </a:solidFill>
              </a:rPr>
              <a:t>June 30, 2026</a:t>
            </a:r>
          </a:p>
          <a:p>
            <a:endParaRPr lang="en-US"/>
          </a:p>
          <a:p>
            <a:r>
              <a:rPr lang="en-US"/>
              <a:t>First wave of major structural changes (3.0) to be released by </a:t>
            </a:r>
            <a:r>
              <a:rPr lang="en-US" b="1">
                <a:solidFill>
                  <a:srgbClr val="FF0000"/>
                </a:solidFill>
              </a:rPr>
              <a:t>December 31, 2026</a:t>
            </a:r>
            <a:r>
              <a:rPr lang="en-US"/>
              <a:t>; will incorporate GeoSPARQL, QUDT, refactoring of information, etc.</a:t>
            </a:r>
          </a:p>
          <a:p>
            <a:endParaRPr lang="en-US"/>
          </a:p>
          <a:p>
            <a:r>
              <a:rPr lang="en-US"/>
              <a:t>Last wave of major structural changes (4.0) to be released </a:t>
            </a:r>
            <a:r>
              <a:rPr lang="en-US" b="1">
                <a:solidFill>
                  <a:srgbClr val="FF0000"/>
                </a:solidFill>
              </a:rPr>
              <a:t>June 30, 2027</a:t>
            </a:r>
          </a:p>
          <a:p>
            <a:endParaRPr lang="en-US"/>
          </a:p>
          <a:p>
            <a:pPr marL="0" indent="0" algn="ctr">
              <a:buNone/>
            </a:pPr>
            <a:r>
              <a:rPr lang="en-US" b="1">
                <a:solidFill>
                  <a:schemeClr val="accent6"/>
                </a:solidFill>
              </a:rPr>
              <a:t>Recommendation is to update following 4.0 release </a:t>
            </a:r>
          </a:p>
        </p:txBody>
      </p:sp>
    </p:spTree>
    <p:extLst>
      <p:ext uri="{BB962C8B-B14F-4D97-AF65-F5344CB8AC3E}">
        <p14:creationId xmlns:p14="http://schemas.microsoft.com/office/powerpoint/2010/main" val="25708067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A33A2-499F-E1C5-217A-8268CEDD4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CF442-7748-B9F5-863E-504EA9E3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to Tell Your Sponsors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0DD0D-770B-DD7A-3B93-0FE60087F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This is at present an ACC-funded effort and as a consequence, AF use cases for domain extensions are prioritized</a:t>
            </a:r>
          </a:p>
          <a:p>
            <a:endParaRPr lang="en-US"/>
          </a:p>
          <a:p>
            <a:r>
              <a:rPr lang="en-US"/>
              <a:t>Agencies with use cases they would like to see represented are welcome to provide and NCOR will make efforts to accommodate </a:t>
            </a:r>
          </a:p>
          <a:p>
            <a:endParaRPr lang="en-US"/>
          </a:p>
          <a:p>
            <a:r>
              <a:rPr lang="en-US"/>
              <a:t>Agencies that would like to see their use cases prioritized will need to contribute resources (e.g. people, funds, etc.) to the modernization project</a:t>
            </a:r>
          </a:p>
        </p:txBody>
      </p:sp>
    </p:spTree>
    <p:extLst>
      <p:ext uri="{BB962C8B-B14F-4D97-AF65-F5344CB8AC3E}">
        <p14:creationId xmlns:p14="http://schemas.microsoft.com/office/powerpoint/2010/main" val="219861062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3024</TotalTime>
  <Words>2916</Words>
  <Application>Microsoft Macintosh PowerPoint</Application>
  <PresentationFormat>Widescreen</PresentationFormat>
  <Paragraphs>498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Aptos</vt:lpstr>
      <vt:lpstr>Arial</vt:lpstr>
      <vt:lpstr>Calibri</vt:lpstr>
      <vt:lpstr>Garamond</vt:lpstr>
      <vt:lpstr>3_Office Theme</vt:lpstr>
      <vt:lpstr>CCO Modernization Roadmap</vt:lpstr>
      <vt:lpstr>Outline</vt:lpstr>
      <vt:lpstr>Outline</vt:lpstr>
      <vt:lpstr>PowerPoint Presentation</vt:lpstr>
      <vt:lpstr>PowerPoint Presentation</vt:lpstr>
      <vt:lpstr>CCO Governance Board</vt:lpstr>
      <vt:lpstr>CCO Governance Board</vt:lpstr>
      <vt:lpstr>NCOR 501(c)3</vt:lpstr>
      <vt:lpstr>CCO Governance Board &amp; NCOR</vt:lpstr>
      <vt:lpstr>Outline</vt:lpstr>
      <vt:lpstr>PowerPoint Presentation</vt:lpstr>
      <vt:lpstr>PowerPoint Presentation</vt:lpstr>
      <vt:lpstr>PowerPoint Presentation</vt:lpstr>
      <vt:lpstr>PowerPoint Presentation</vt:lpstr>
      <vt:lpstr>CCO 2.1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CCO Issue Tracker</vt:lpstr>
      <vt:lpstr>PowerPoint Presentation</vt:lpstr>
      <vt:lpstr>CCO Project Board</vt:lpstr>
      <vt:lpstr>PowerPoint Presentation</vt:lpstr>
      <vt:lpstr>Domain Extension</vt:lpstr>
      <vt:lpstr>Domain Extension(s)</vt:lpstr>
      <vt:lpstr>PowerPoint Presentation</vt:lpstr>
      <vt:lpstr>PowerPoint Presentation</vt:lpstr>
      <vt:lpstr>PowerPoint Presentation</vt:lpstr>
      <vt:lpstr>Outline</vt:lpstr>
      <vt:lpstr>PowerPoint Presentation</vt:lpstr>
      <vt:lpstr>PowerPoint Presentation</vt:lpstr>
      <vt:lpstr>PowerPoint Presentation</vt:lpstr>
      <vt:lpstr>PowerPoint Presentation</vt:lpstr>
      <vt:lpstr>Future Releases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to Tell Your Sponsors </vt:lpstr>
      <vt:lpstr>What to Tell Your Sponsors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ncorinfo</dc:creator>
  <cp:lastModifiedBy>ncorinfo</cp:lastModifiedBy>
  <cp:revision>4</cp:revision>
  <dcterms:created xsi:type="dcterms:W3CDTF">2026-04-21T14:50:01Z</dcterms:created>
  <dcterms:modified xsi:type="dcterms:W3CDTF">2026-04-24T13:56:00Z</dcterms:modified>
</cp:coreProperties>
</file>